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Executive Welcome &amp; Visionary Opening】</a:t>
            </a:r>
          </a:p>
          <a:p>
            <a:r>
              <a:t>Tone: Formal, Confident, Prestigious | Target Duration: ~40 seconds</a:t>
            </a:r>
          </a:p>
          <a:p/>
          <a:p>
            <a:r>
              <a:t>"Good morning, members of the executive leadership team, esteemed colleagues, and distinguished guests.</a:t>
            </a:r>
          </a:p>
          <a:p/>
          <a:p>
            <a:r>
              <a:t>On behalf of Fujitsu Thailand, it is my distinct privilege to welcome you to today’s executive briefing: 'Empowering Enterprise ERP with Microsoft Copilot AI.'</a:t>
            </a:r>
          </a:p>
          <a:p/>
          <a:p>
            <a:r>
              <a:t>As organizations navigate rapid digital evolution and intensifying regulatory demands in Thailand, traditional enterprise resource planning systems must evolve beyond passive data recording. Today, we are proud to present Fujitsu’s strategic vision for Dynamics 365 Finance &amp; Operations—natively enhanced by Microsoft Copilot Studio and Azure AI.</a:t>
            </a:r>
          </a:p>
          <a:p/>
          <a:p>
            <a:r>
              <a:t>Our objective this morning is twofold: first, to demonstrate how autonomous AI streamlines everyday accounting, accounts payable, and Thai tax compliance; and second, to illustrate how this initiative creates proprietary, high-margin Intellectual Property that solidifies Fujitsu Thailand’s position as the premier digital transformation partner in the region.</a:t>
            </a:r>
          </a:p>
          <a:p/>
          <a:p>
            <a:r>
              <a:t>Thank you for your time, and we look forward to an insightful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Industry Shift &amp; Local Regulatory Challenges】</a:t>
            </a:r>
          </a:p>
          <a:p>
            <a:r>
              <a:t>Tone: Problem-Solving, Strategic | Target Duration: ~45 seconds</a:t>
            </a:r>
          </a:p>
          <a:p/>
          <a:p>
            <a:r>
              <a:t>"Turning to Slide 2, let us examine the operational realities and regulatory drivers shaping modern corporate finance.</a:t>
            </a:r>
          </a:p>
          <a:p/>
          <a:p>
            <a:r>
              <a:t>Historically, ERP systems were designed as Systems of Record—reliable at logging historical transactions, but fundamentally passive. In practice, our finance and Accounts Payable teams across Thailand continue to bear an immense manual burden. More than 70% of an AP accountant's time is consumed by repetitive administrative tasks: scrutinizing hundreds of PDF tax invoices, cross-referencing purchase orders, and validating 13-digit Tax Identification Numbers and branch codes line by line.</a:t>
            </a:r>
          </a:p>
          <a:p/>
          <a:p>
            <a:r>
              <a:t>Compounding this challenge is Thailand’s rapidly tightening regulatory landscape. The Revenue Department’s ongoing transition toward mandatory e-Tax Invoices and e-Receipts, coupled with intricate Withholding Tax classifications, means that even a minor typographical error can stall monthly PP.30 filings or invite statutory penalties.</a:t>
            </a:r>
          </a:p>
          <a:p/>
          <a:p>
            <a:r>
              <a:t>This operational friction represents a transformative opportunity for Fujitsu. By elevating Dynamics 365 into a System of Intelligence, we introduce proactive AI agents that validate data, match transactions, and flag discrepancies before posting—converting the finance department from a transactional cost center into an agile, strategic growth driver."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Product Excellence &amp; Fujitsu Strategic Value】</a:t>
            </a:r>
          </a:p>
          <a:p>
            <a:r>
              <a:t>Tone: Visionary, High-Impact | Target Duration: ~50 seconds</a:t>
            </a:r>
          </a:p>
          <a:p/>
          <a:p>
            <a:r>
              <a:t>"On Slide 3, we illustrate how this initiative generates substantial, balanced value across both the product platform and Fujitsu Thailand’s commercial portfolio.</a:t>
            </a:r>
          </a:p>
          <a:p/>
          <a:p>
            <a:r>
              <a:t>From a product enhancement perspective, we are embedding Microsoft Copilot Studio and Azure AI directly into Dynamics 365 via Microsoft Dataverse. This architectural design ensures that enterprise data never leaves your secure tenant. Rather than replacing human judgment, Copilot functions as an autonomous drafting co-pilot: extracting invoice details, validating against 3-way matching rules, and pre-populating draft vendor journals. Crucially, we enforce strict Human-in-the-Loop governance: no transaction is ever committed to the general ledger without explicit review and approval by an authorized accountant.</a:t>
            </a:r>
          </a:p>
          <a:p/>
          <a:p>
            <a:r>
              <a:t>From Fujitsu Thailand’s strategic perspective, this initiative establishes a decisive first-mover advantage. By transforming custom localization scripts into a packaged, repeatable AI-powered Thai Localization IP asset, we significantly reduce project implementation time while commanding higher consulting margins. This offering directly addresses the acute compliance needs of Japanese multinationals and major domestic enterprises in Thailand, reinforcing Fujitsu’s legacy of Japanese engineering quality, robust governance, and trusted delivery."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Executive Agenda &amp; Transition to Live Solution Pitch】</a:t>
            </a:r>
          </a:p>
          <a:p>
            <a:r>
              <a:t>Tone: Engaging, Action-Oriented | Target Duration: ~30 seconds</a:t>
            </a:r>
          </a:p>
          <a:p/>
          <a:p>
            <a:r>
              <a:t>"Finally, on Slide 4, let us outline the interactive journey we have prepared for you today.</a:t>
            </a:r>
          </a:p>
          <a:p/>
          <a:p>
            <a:r>
              <a:t>Following this opening briefing, we will transition directly into our production-grade Live Interactive Pitch Platform, which walks through four core pillars across twelve executive slides:</a:t>
            </a:r>
          </a:p>
          <a:p>
            <a:r>
              <a:t>1. First, the official Microsoft Copilot Studio reference architecture, detailing enterprise security, Dataverse integration, and multi-agent coordination;</a:t>
            </a:r>
          </a:p>
          <a:p>
            <a:r>
              <a:t>2. Second, an in-depth walkthrough of our top five Thai localization use cases—spanning AP Invoice Intelligence, Thai Tax Copilot, e-Tax Gateway pre-validation, Continuous Reconciliation, and Policy Q&amp;A;</a:t>
            </a:r>
          </a:p>
          <a:p>
            <a:r>
              <a:t>3. Third, a pragmatic 8-week Proof of Concept delivery roadmap, engineered to deliver measurable ROI and verified business value within two months; and</a:t>
            </a:r>
          </a:p>
          <a:p>
            <a:r>
              <a:t>4. Fourth, an interactive presentation experience equipped with dual-host narration and real-time scenario simulation.</a:t>
            </a:r>
          </a:p>
          <a:p/>
          <a:p>
            <a:r>
              <a:t>Without further delay, I invite our executive team to transition with me into the live interactive platform to witness the future of Dynamics 365 and Copilot AI in action.</a:t>
            </a:r>
          </a:p>
          <a:p/>
          <a:p>
            <a:r>
              <a:t>Please join me as we launch the live demonstration."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ujitsu_wordmark_clean.png"/>
          <p:cNvPicPr>
            <a:picLocks noChangeAspect="1"/>
          </p:cNvPicPr>
          <p:nvPr/>
        </p:nvPicPr>
        <p:blipFill>
          <a:blip r:embed="rId2"/>
          <a:stretch>
            <a:fillRect/>
          </a:stretch>
        </p:blipFill>
        <p:spPr>
          <a:xfrm>
            <a:off x="10378440" y="320040"/>
            <a:ext cx="1280160" cy="676448"/>
          </a:xfrm>
          <a:prstGeom prst="rect">
            <a:avLst/>
          </a:prstGeom>
        </p:spPr>
      </p:pic>
      <p:sp>
        <p:nvSpPr>
          <p:cNvPr id="5" name="TextBox 4"/>
          <p:cNvSpPr txBox="1"/>
          <p:nvPr/>
        </p:nvSpPr>
        <p:spPr>
          <a:xfrm>
            <a:off x="731520" y="320040"/>
            <a:ext cx="9418320" cy="1097280"/>
          </a:xfrm>
          <a:prstGeom prst="rect">
            <a:avLst/>
          </a:prstGeom>
          <a:noFill/>
        </p:spPr>
        <p:txBody>
          <a:bodyPr wrap="square" lIns="0" tIns="0" rIns="0" bIns="0">
            <a:spAutoFit/>
          </a:bodyPr>
          <a:lstStyle/>
          <a:p>
            <a:pPr>
              <a:spcAft>
                <a:spcPts val="200"/>
              </a:spcAft>
              <a:defRPr sz="950" b="1">
                <a:solidFill>
                  <a:srgbClr val="DC2626"/>
                </a:solidFill>
                <a:latin typeface="Segoe UI"/>
              </a:defRPr>
            </a:pPr>
            <a:r>
              <a:t>FUJITSU THAILAND (FTH) • STRATEGIC EXECUTIVE KEYNOTE</a:t>
            </a:r>
          </a:p>
          <a:p>
            <a:pPr>
              <a:spcAft>
                <a:spcPts val="200"/>
              </a:spcAft>
              <a:defRPr sz="2200" b="1">
                <a:solidFill>
                  <a:srgbClr val="0F172A"/>
                </a:solidFill>
                <a:latin typeface="Segoe UI"/>
              </a:defRPr>
            </a:pPr>
            <a:r>
              <a:t>Empowering Enterprise ERP with Microsoft Copilot AI</a:t>
            </a:r>
          </a:p>
          <a:p>
            <a:pPr>
              <a:defRPr sz="1100">
                <a:solidFill>
                  <a:srgbClr val="475569"/>
                </a:solidFill>
                <a:latin typeface="Segoe UI"/>
              </a:defRPr>
            </a:pPr>
            <a:r>
              <a:t>Advancing Dynamics 365 Finance &amp; Operations into Autonomous AI &amp; Unlocking Strategic Value for Fujitsu Thailand</a:t>
            </a:r>
          </a:p>
        </p:txBody>
      </p:sp>
      <p:sp>
        <p:nvSpPr>
          <p:cNvPr id="6" name="Rectangle 5"/>
          <p:cNvSpPr/>
          <p:nvPr/>
        </p:nvSpPr>
        <p:spPr>
          <a:xfrm>
            <a:off x="731520" y="15087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28655" cy="274320"/>
          </a:xfrm>
          <a:prstGeom prst="rect">
            <a:avLst/>
          </a:prstGeom>
          <a:noFill/>
        </p:spPr>
        <p:txBody>
          <a:bodyPr wrap="square" lIns="0" tIns="0" rIns="0" bIns="0">
            <a:spAutoFit/>
          </a:bodyPr>
          <a:lstStyle/>
          <a:p>
            <a:pPr>
              <a:defRPr sz="850" b="1">
                <a:solidFill>
                  <a:srgbClr val="94A3B8"/>
                </a:solidFill>
                <a:latin typeface="Segoe UI"/>
              </a:defRPr>
            </a:pPr>
            <a:r>
              <a:t>FUJITSU THAILAND (FTH) • DYNAMICS 365 &amp; COPILOT AI EXECUTIVE KEYNOTE • SLIDE 1 OF 4</a:t>
            </a:r>
          </a:p>
        </p:txBody>
      </p:sp>
      <p:sp>
        <p:nvSpPr>
          <p:cNvPr id="8" name="Rounded Rectangle 7"/>
          <p:cNvSpPr/>
          <p:nvPr/>
        </p:nvSpPr>
        <p:spPr>
          <a:xfrm>
            <a:off x="731520" y="1691640"/>
            <a:ext cx="3328416"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1200"/>
              </a:spcAft>
              <a:defRPr sz="1350" b="1">
                <a:solidFill>
                  <a:srgbClr val="0284C7"/>
                </a:solidFill>
                <a:latin typeface="Segoe UI"/>
              </a:defRPr>
            </a:pPr>
            <a:r>
              <a:t>⚡ 1. Autonomous ERP</a:t>
            </a:r>
          </a:p>
          <a:p>
            <a:pPr>
              <a:spcAft>
                <a:spcPts val="800"/>
              </a:spcAft>
              <a:defRPr sz="1050" b="1">
                <a:solidFill>
                  <a:srgbClr val="1E293B"/>
                </a:solidFill>
                <a:latin typeface="Segoe UI"/>
              </a:defRPr>
            </a:pPr>
            <a:r>
              <a:t>• Workflow Automation: </a:t>
            </a:r>
            <a:r>
              <a:rPr sz="950" b="0">
                <a:solidFill>
                  <a:srgbClr val="475569"/>
                </a:solidFill>
                <a:latin typeface="Segoe UI"/>
              </a:rPr>
              <a:t>Transforms manual accounting workflows into an intelligent system that reads, verifies, and pre-drafts transactions.</a:t>
            </a:r>
          </a:p>
          <a:p>
            <a:pPr>
              <a:spcAft>
                <a:spcPts val="800"/>
              </a:spcAft>
              <a:defRPr sz="1050" b="1">
                <a:solidFill>
                  <a:srgbClr val="1E293B"/>
                </a:solidFill>
                <a:latin typeface="Segoe UI"/>
              </a:defRPr>
            </a:pPr>
            <a:r>
              <a:t>• Native D365 Fusion: </a:t>
            </a:r>
            <a:r>
              <a:rPr sz="950" b="0">
                <a:solidFill>
                  <a:srgbClr val="475569"/>
                </a:solidFill>
                <a:latin typeface="Segoe UI"/>
              </a:rPr>
              <a:t>Direct integration with Copilot Studio, Azure AI, and D365 F&amp;O via Dataverse—zero external data leakage.</a:t>
            </a:r>
          </a:p>
          <a:p>
            <a:pPr>
              <a:spcAft>
                <a:spcPts val="800"/>
              </a:spcAft>
              <a:defRPr sz="1050" b="1">
                <a:solidFill>
                  <a:srgbClr val="1E293B"/>
                </a:solidFill>
                <a:latin typeface="Segoe UI"/>
              </a:defRPr>
            </a:pPr>
            <a:r>
              <a:t>• Operational Efficiency: </a:t>
            </a:r>
            <a:r>
              <a:rPr sz="950" b="0">
                <a:solidFill>
                  <a:srgbClr val="475569"/>
                </a:solidFill>
                <a:latin typeface="Segoe UI"/>
              </a:rPr>
              <a:t>Slashes repetitive Accounts Payable cycle time by over 70%, freeing teams for strategic financial analysis.</a:t>
            </a:r>
          </a:p>
        </p:txBody>
      </p:sp>
      <p:sp>
        <p:nvSpPr>
          <p:cNvPr id="9" name="Rounded Rectangle 8"/>
          <p:cNvSpPr/>
          <p:nvPr/>
        </p:nvSpPr>
        <p:spPr>
          <a:xfrm>
            <a:off x="731520" y="1691640"/>
            <a:ext cx="3328416" cy="73152"/>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25696" y="1691640"/>
            <a:ext cx="3328416"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1200"/>
              </a:spcAft>
              <a:defRPr sz="1350" b="1">
                <a:solidFill>
                  <a:srgbClr val="7C3AED"/>
                </a:solidFill>
                <a:latin typeface="Segoe UI"/>
              </a:defRPr>
            </a:pPr>
            <a:r>
              <a:t>🏛️ 2. Thai Tax Compliance</a:t>
            </a:r>
          </a:p>
          <a:p>
            <a:pPr>
              <a:spcAft>
                <a:spcPts val="800"/>
              </a:spcAft>
              <a:defRPr sz="1050" b="1">
                <a:solidFill>
                  <a:srgbClr val="1E293B"/>
                </a:solidFill>
                <a:latin typeface="Segoe UI"/>
              </a:defRPr>
            </a:pPr>
            <a:r>
              <a:t>• Full Regulatory Support: </a:t>
            </a:r>
            <a:r>
              <a:rPr sz="950" b="0">
                <a:solidFill>
                  <a:srgbClr val="475569"/>
                </a:solidFill>
                <a:latin typeface="Segoe UI"/>
              </a:rPr>
              <a:t>Purpose-built for Revenue Department requirements: PP.30 VAT 7%, PND 3/53, and 50 Tawi certificates.</a:t>
            </a:r>
          </a:p>
          <a:p>
            <a:pPr>
              <a:spcAft>
                <a:spcPts val="800"/>
              </a:spcAft>
              <a:defRPr sz="1050" b="1">
                <a:solidFill>
                  <a:srgbClr val="1E293B"/>
                </a:solidFill>
                <a:latin typeface="Segoe UI"/>
              </a:defRPr>
            </a:pPr>
            <a:r>
              <a:t>• e-Tax Pre-Validation: </a:t>
            </a:r>
            <a:r>
              <a:rPr sz="950" b="0">
                <a:solidFill>
                  <a:srgbClr val="475569"/>
                </a:solidFill>
                <a:latin typeface="Segoe UI"/>
              </a:rPr>
              <a:t>Automatic validation gate checking 13-digit Tax IDs and 5-digit branch codes prior to XML generation.</a:t>
            </a:r>
          </a:p>
          <a:p>
            <a:pPr>
              <a:spcAft>
                <a:spcPts val="800"/>
              </a:spcAft>
              <a:defRPr sz="1050" b="1">
                <a:solidFill>
                  <a:srgbClr val="1E293B"/>
                </a:solidFill>
                <a:latin typeface="Segoe UI"/>
              </a:defRPr>
            </a:pPr>
            <a:r>
              <a:t>• Continuous Subledger Audit: </a:t>
            </a:r>
            <a:r>
              <a:rPr sz="950" b="0">
                <a:solidFill>
                  <a:srgbClr val="475569"/>
                </a:solidFill>
                <a:latin typeface="Segoe UI"/>
              </a:rPr>
              <a:t>Monitors General Ledger against AP, AR, and Tax subledgers throughout the month, eliminating closing panic.</a:t>
            </a:r>
          </a:p>
        </p:txBody>
      </p:sp>
      <p:sp>
        <p:nvSpPr>
          <p:cNvPr id="11" name="Rounded Rectangle 10"/>
          <p:cNvSpPr/>
          <p:nvPr/>
        </p:nvSpPr>
        <p:spPr>
          <a:xfrm>
            <a:off x="4425696" y="1691640"/>
            <a:ext cx="3328416" cy="7315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19872" y="1691640"/>
            <a:ext cx="3328416"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1200"/>
              </a:spcAft>
              <a:defRPr sz="1350" b="1">
                <a:solidFill>
                  <a:srgbClr val="DC2626"/>
                </a:solidFill>
                <a:latin typeface="Segoe UI"/>
              </a:defRPr>
            </a:pPr>
            <a:r>
              <a:t>🏆 3. Strategic Value for FTH</a:t>
            </a:r>
          </a:p>
          <a:p>
            <a:pPr>
              <a:spcAft>
                <a:spcPts val="800"/>
              </a:spcAft>
              <a:defRPr sz="1050" b="1">
                <a:solidFill>
                  <a:srgbClr val="1E293B"/>
                </a:solidFill>
                <a:latin typeface="Segoe UI"/>
              </a:defRPr>
            </a:pPr>
            <a:r>
              <a:t>• Proprietary IP Leadership: </a:t>
            </a:r>
            <a:r>
              <a:rPr sz="950" b="0">
                <a:solidFill>
                  <a:srgbClr val="475569"/>
                </a:solidFill>
                <a:latin typeface="Segoe UI"/>
              </a:rPr>
              <a:t>Establishes FTH as the premier partner with a proven, repeatable AI-infused Thai Localization package.</a:t>
            </a:r>
          </a:p>
          <a:p>
            <a:pPr>
              <a:spcAft>
                <a:spcPts val="800"/>
              </a:spcAft>
              <a:defRPr sz="1050" b="1">
                <a:solidFill>
                  <a:srgbClr val="1E293B"/>
                </a:solidFill>
                <a:latin typeface="Segoe UI"/>
              </a:defRPr>
            </a:pPr>
            <a:r>
              <a:t>• High-Margin Reusability: </a:t>
            </a:r>
            <a:r>
              <a:rPr sz="950" b="0">
                <a:solidFill>
                  <a:srgbClr val="475569"/>
                </a:solidFill>
                <a:latin typeface="Segoe UI"/>
              </a:rPr>
              <a:t>Packaged solution scales across Japanese MNCs and major domestic corporate enterprises in Thailand.</a:t>
            </a:r>
          </a:p>
          <a:p>
            <a:pPr>
              <a:spcAft>
                <a:spcPts val="800"/>
              </a:spcAft>
              <a:defRPr sz="1050" b="1">
                <a:solidFill>
                  <a:srgbClr val="1E293B"/>
                </a:solidFill>
                <a:latin typeface="Segoe UI"/>
              </a:defRPr>
            </a:pPr>
            <a:r>
              <a:t>• Trusted Global Partner: </a:t>
            </a:r>
            <a:r>
              <a:rPr sz="950" b="0">
                <a:solidFill>
                  <a:srgbClr val="475569"/>
                </a:solidFill>
                <a:latin typeface="Segoe UI"/>
              </a:rPr>
              <a:t>Combines Fujitsu’s renowned Japanese quality and governance with Microsoft’s premier enterprise AI platform.</a:t>
            </a:r>
          </a:p>
        </p:txBody>
      </p:sp>
      <p:sp>
        <p:nvSpPr>
          <p:cNvPr id="13" name="Rounded Rectangle 12"/>
          <p:cNvSpPr/>
          <p:nvPr/>
        </p:nvSpPr>
        <p:spPr>
          <a:xfrm>
            <a:off x="8119872" y="1691640"/>
            <a:ext cx="3328416" cy="73152"/>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5806440"/>
            <a:ext cx="10728655" cy="475488"/>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000" b="1">
                <a:solidFill>
                  <a:srgbClr val="475569"/>
                </a:solidFill>
                <a:latin typeface="Segoe UI"/>
              </a:defRPr>
            </a:pPr>
            <a:r>
              <a:t>🎤 Presenter: Senior Solution Principal &amp; Executive Host, Fujitsu Thailand (FTH)   |   ⏱️ Opening Duration: ~2 Minutes   |   ● Direct Live Solution Pitch Handover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ujitsu_wordmark_clean.png"/>
          <p:cNvPicPr>
            <a:picLocks noChangeAspect="1"/>
          </p:cNvPicPr>
          <p:nvPr/>
        </p:nvPicPr>
        <p:blipFill>
          <a:blip r:embed="rId2"/>
          <a:stretch>
            <a:fillRect/>
          </a:stretch>
        </p:blipFill>
        <p:spPr>
          <a:xfrm>
            <a:off x="10378440" y="320040"/>
            <a:ext cx="1280160" cy="676448"/>
          </a:xfrm>
          <a:prstGeom prst="rect">
            <a:avLst/>
          </a:prstGeom>
        </p:spPr>
      </p:pic>
      <p:sp>
        <p:nvSpPr>
          <p:cNvPr id="5" name="TextBox 4"/>
          <p:cNvSpPr txBox="1"/>
          <p:nvPr/>
        </p:nvSpPr>
        <p:spPr>
          <a:xfrm>
            <a:off x="731520" y="320040"/>
            <a:ext cx="9418320" cy="1097280"/>
          </a:xfrm>
          <a:prstGeom prst="rect">
            <a:avLst/>
          </a:prstGeom>
          <a:noFill/>
        </p:spPr>
        <p:txBody>
          <a:bodyPr wrap="square" lIns="0" tIns="0" rIns="0" bIns="0">
            <a:spAutoFit/>
          </a:bodyPr>
          <a:lstStyle/>
          <a:p>
            <a:pPr>
              <a:spcAft>
                <a:spcPts val="200"/>
              </a:spcAft>
              <a:defRPr sz="950" b="1">
                <a:solidFill>
                  <a:srgbClr val="DC2626"/>
                </a:solidFill>
                <a:latin typeface="Segoe UI"/>
              </a:defRPr>
            </a:pPr>
            <a:r>
              <a:t>MARKET DRIVERS &amp; BUSINESS CHALLENGES</a:t>
            </a:r>
          </a:p>
          <a:p>
            <a:pPr>
              <a:spcAft>
                <a:spcPts val="200"/>
              </a:spcAft>
              <a:defRPr sz="2200" b="1">
                <a:solidFill>
                  <a:srgbClr val="0F172A"/>
                </a:solidFill>
                <a:latin typeface="Segoe UI"/>
              </a:defRPr>
            </a:pPr>
            <a:r>
              <a:t>The Paradigm Shift: From System of Record to System of Intelligence</a:t>
            </a:r>
          </a:p>
          <a:p>
            <a:pPr>
              <a:defRPr sz="1100">
                <a:solidFill>
                  <a:srgbClr val="475569"/>
                </a:solidFill>
                <a:latin typeface="Segoe UI"/>
              </a:defRPr>
            </a:pPr>
            <a:r>
              <a:t>Navigating Thai financial and tax complexities, and unlocking Fujitsu’s breakthrough opportunity.</a:t>
            </a:r>
          </a:p>
        </p:txBody>
      </p:sp>
      <p:sp>
        <p:nvSpPr>
          <p:cNvPr id="6" name="Rectangle 5"/>
          <p:cNvSpPr/>
          <p:nvPr/>
        </p:nvSpPr>
        <p:spPr>
          <a:xfrm>
            <a:off x="731520" y="15087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28655" cy="274320"/>
          </a:xfrm>
          <a:prstGeom prst="rect">
            <a:avLst/>
          </a:prstGeom>
          <a:noFill/>
        </p:spPr>
        <p:txBody>
          <a:bodyPr wrap="square" lIns="0" tIns="0" rIns="0" bIns="0">
            <a:spAutoFit/>
          </a:bodyPr>
          <a:lstStyle/>
          <a:p>
            <a:pPr>
              <a:defRPr sz="850" b="1">
                <a:solidFill>
                  <a:srgbClr val="94A3B8"/>
                </a:solidFill>
                <a:latin typeface="Segoe UI"/>
              </a:defRPr>
            </a:pPr>
            <a:r>
              <a:t>FUJITSU THAILAND (FTH) • DYNAMICS 365 &amp; COPILOT AI EXECUTIVE KEYNOTE • SLIDE 2 OF 4</a:t>
            </a:r>
          </a:p>
        </p:txBody>
      </p:sp>
      <p:sp>
        <p:nvSpPr>
          <p:cNvPr id="8" name="Rounded Rectangle 7"/>
          <p:cNvSpPr/>
          <p:nvPr/>
        </p:nvSpPr>
        <p:spPr>
          <a:xfrm>
            <a:off x="731520" y="1691640"/>
            <a:ext cx="3328416"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1200"/>
              </a:spcAft>
              <a:defRPr sz="1350" b="1">
                <a:solidFill>
                  <a:srgbClr val="DC2626"/>
                </a:solidFill>
                <a:latin typeface="Segoe UI"/>
              </a:defRPr>
            </a:pPr>
            <a:r>
              <a:t>⚠️ Traditional ERP Limits</a:t>
            </a:r>
          </a:p>
          <a:p>
            <a:pPr>
              <a:spcAft>
                <a:spcPts val="800"/>
              </a:spcAft>
              <a:defRPr sz="1050" b="1">
                <a:solidFill>
                  <a:srgbClr val="1E293B"/>
                </a:solidFill>
                <a:latin typeface="Segoe UI"/>
              </a:defRPr>
            </a:pPr>
            <a:r>
              <a:t>• Manual Overload: </a:t>
            </a:r>
            <a:r>
              <a:rPr sz="950" b="0">
                <a:solidFill>
                  <a:srgbClr val="475569"/>
                </a:solidFill>
                <a:latin typeface="Segoe UI"/>
              </a:rPr>
              <a:t>Accounts Payable teams spend &gt;70% of time manually verifying PDF invoices, receipts, and line items.</a:t>
            </a:r>
          </a:p>
          <a:p>
            <a:pPr>
              <a:spcAft>
                <a:spcPts val="800"/>
              </a:spcAft>
              <a:defRPr sz="1050" b="1">
                <a:solidFill>
                  <a:srgbClr val="1E293B"/>
                </a:solidFill>
                <a:latin typeface="Segoe UI"/>
              </a:defRPr>
            </a:pPr>
            <a:r>
              <a:t>• Human Error Risks: </a:t>
            </a:r>
            <a:r>
              <a:rPr sz="950" b="0">
                <a:solidFill>
                  <a:srgbClr val="475569"/>
                </a:solidFill>
                <a:latin typeface="Segoe UI"/>
              </a:rPr>
              <a:t>Typos in 13-digit Tax IDs or 5-digit branch codes trigger costly month-end tax filing discrepancies.</a:t>
            </a:r>
          </a:p>
          <a:p>
            <a:pPr>
              <a:spcAft>
                <a:spcPts val="800"/>
              </a:spcAft>
              <a:defRPr sz="1050" b="1">
                <a:solidFill>
                  <a:srgbClr val="1E293B"/>
                </a:solidFill>
                <a:latin typeface="Segoe UI"/>
              </a:defRPr>
            </a:pPr>
            <a:r>
              <a:t>• Month-End Bottlenecks: </a:t>
            </a:r>
            <a:r>
              <a:rPr sz="950" b="0">
                <a:solidFill>
                  <a:srgbClr val="475569"/>
                </a:solidFill>
                <a:latin typeface="Segoe UI"/>
              </a:rPr>
              <a:t>Volume spikes create severe month-end stress, delaying PP.30 filings and obscuring cash visibility.</a:t>
            </a:r>
          </a:p>
        </p:txBody>
      </p:sp>
      <p:sp>
        <p:nvSpPr>
          <p:cNvPr id="9" name="Rounded Rectangle 8"/>
          <p:cNvSpPr/>
          <p:nvPr/>
        </p:nvSpPr>
        <p:spPr>
          <a:xfrm>
            <a:off x="731520" y="1691640"/>
            <a:ext cx="3328416" cy="73152"/>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25696" y="1691640"/>
            <a:ext cx="3328416"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1200"/>
              </a:spcAft>
              <a:defRPr sz="1350" b="1">
                <a:solidFill>
                  <a:srgbClr val="7C3AED"/>
                </a:solidFill>
                <a:latin typeface="Segoe UI"/>
              </a:defRPr>
            </a:pPr>
            <a:r>
              <a:t>🏛️ Strict Thai Mandates</a:t>
            </a:r>
          </a:p>
          <a:p>
            <a:pPr>
              <a:spcAft>
                <a:spcPts val="800"/>
              </a:spcAft>
              <a:defRPr sz="1050" b="1">
                <a:solidFill>
                  <a:srgbClr val="1E293B"/>
                </a:solidFill>
                <a:latin typeface="Segoe UI"/>
              </a:defRPr>
            </a:pPr>
            <a:r>
              <a:t>• e-Tax Enforcement: </a:t>
            </a:r>
            <a:r>
              <a:rPr sz="950" b="0">
                <a:solidFill>
                  <a:srgbClr val="475569"/>
                </a:solidFill>
                <a:latin typeface="Segoe UI"/>
              </a:rPr>
              <a:t>Revenue Department enforces strict XML / e-Filing schemas requiring 100% pre-validation before submission.</a:t>
            </a:r>
          </a:p>
          <a:p>
            <a:pPr>
              <a:spcAft>
                <a:spcPts val="800"/>
              </a:spcAft>
              <a:defRPr sz="1050" b="1">
                <a:solidFill>
                  <a:srgbClr val="1E293B"/>
                </a:solidFill>
                <a:latin typeface="Segoe UI"/>
              </a:defRPr>
            </a:pPr>
            <a:r>
              <a:t>• Complex WHT Rules: </a:t>
            </a:r>
            <a:r>
              <a:rPr sz="950" b="0">
                <a:solidFill>
                  <a:srgbClr val="475569"/>
                </a:solidFill>
                <a:latin typeface="Segoe UI"/>
              </a:rPr>
              <a:t>Variable 1%, 2%, 3%, 5% rates require exact categorization based on the underlying nature of services.</a:t>
            </a:r>
          </a:p>
          <a:p>
            <a:pPr>
              <a:spcAft>
                <a:spcPts val="800"/>
              </a:spcAft>
              <a:defRPr sz="1050" b="1">
                <a:solidFill>
                  <a:srgbClr val="1E293B"/>
                </a:solidFill>
                <a:latin typeface="Segoe UI"/>
              </a:defRPr>
            </a:pPr>
            <a:r>
              <a:t>• Penalty Exposure: </a:t>
            </a:r>
            <a:r>
              <a:rPr sz="950" b="0">
                <a:solidFill>
                  <a:srgbClr val="475569"/>
                </a:solidFill>
                <a:latin typeface="Segoe UI"/>
              </a:rPr>
              <a:t>Late or erroneous filings lead to surcharges, statutory interest, and unnecessary audit friction.</a:t>
            </a:r>
          </a:p>
        </p:txBody>
      </p:sp>
      <p:sp>
        <p:nvSpPr>
          <p:cNvPr id="11" name="Rounded Rectangle 10"/>
          <p:cNvSpPr/>
          <p:nvPr/>
        </p:nvSpPr>
        <p:spPr>
          <a:xfrm>
            <a:off x="4425696" y="1691640"/>
            <a:ext cx="3328416" cy="73152"/>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19872" y="1691640"/>
            <a:ext cx="3328416"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spcAft>
                <a:spcPts val="1200"/>
              </a:spcAft>
              <a:defRPr sz="1350" b="1">
                <a:solidFill>
                  <a:srgbClr val="0284C7"/>
                </a:solidFill>
                <a:latin typeface="Segoe UI"/>
              </a:defRPr>
            </a:pPr>
            <a:r>
              <a:t>🚀 Fujitsu's Opportunity</a:t>
            </a:r>
          </a:p>
          <a:p>
            <a:pPr>
              <a:spcAft>
                <a:spcPts val="800"/>
              </a:spcAft>
              <a:defRPr sz="1050" b="1">
                <a:solidFill>
                  <a:srgbClr val="1E293B"/>
                </a:solidFill>
                <a:latin typeface="Segoe UI"/>
              </a:defRPr>
            </a:pPr>
            <a:r>
              <a:t>• System of Intelligence: </a:t>
            </a:r>
            <a:r>
              <a:rPr sz="950" b="0">
                <a:solidFill>
                  <a:srgbClr val="475569"/>
                </a:solidFill>
                <a:latin typeface="Segoe UI"/>
              </a:rPr>
              <a:t>Elevates D365 to analyze, pre-validate, and predict discrepancies before journal entries are posted.</a:t>
            </a:r>
          </a:p>
          <a:p>
            <a:pPr>
              <a:spcAft>
                <a:spcPts val="800"/>
              </a:spcAft>
              <a:defRPr sz="1050" b="1">
                <a:solidFill>
                  <a:srgbClr val="1E293B"/>
                </a:solidFill>
                <a:latin typeface="Segoe UI"/>
              </a:defRPr>
            </a:pPr>
            <a:r>
              <a:t>• Human-in-the-Loop: </a:t>
            </a:r>
            <a:r>
              <a:rPr sz="950" b="0">
                <a:solidFill>
                  <a:srgbClr val="475569"/>
                </a:solidFill>
                <a:latin typeface="Segoe UI"/>
              </a:rPr>
              <a:t>AI prepares validated drafts; finance professionals retain exclusive approval authority.</a:t>
            </a:r>
          </a:p>
          <a:p>
            <a:pPr>
              <a:spcAft>
                <a:spcPts val="800"/>
              </a:spcAft>
              <a:defRPr sz="1050" b="1">
                <a:solidFill>
                  <a:srgbClr val="1E293B"/>
                </a:solidFill>
                <a:latin typeface="Segoe UI"/>
              </a:defRPr>
            </a:pPr>
            <a:r>
              <a:t>• Market Leadership: </a:t>
            </a:r>
            <a:r>
              <a:rPr sz="950" b="0">
                <a:solidFill>
                  <a:srgbClr val="475569"/>
                </a:solidFill>
                <a:latin typeface="Segoe UI"/>
              </a:rPr>
              <a:t>FTH delivers modern AI innovation that traditional ERP consulting competitors in Thailand cannot match.</a:t>
            </a:r>
          </a:p>
        </p:txBody>
      </p:sp>
      <p:sp>
        <p:nvSpPr>
          <p:cNvPr id="13" name="Rounded Rectangle 12"/>
          <p:cNvSpPr/>
          <p:nvPr/>
        </p:nvSpPr>
        <p:spPr>
          <a:xfrm>
            <a:off x="8119872" y="1691640"/>
            <a:ext cx="3328416" cy="73152"/>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5806440"/>
            <a:ext cx="10728655" cy="475488"/>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000" b="1">
                <a:solidFill>
                  <a:srgbClr val="1E3A8A"/>
                </a:solidFill>
                <a:latin typeface="Segoe UI"/>
              </a:defRPr>
            </a:pPr>
            <a:r>
              <a:t>💡 Executive Takeaway: Evolving ERP from passive data recording into proactive, AI-assisted financial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ujitsu_wordmark_clean.png"/>
          <p:cNvPicPr>
            <a:picLocks noChangeAspect="1"/>
          </p:cNvPicPr>
          <p:nvPr/>
        </p:nvPicPr>
        <p:blipFill>
          <a:blip r:embed="rId2"/>
          <a:stretch>
            <a:fillRect/>
          </a:stretch>
        </p:blipFill>
        <p:spPr>
          <a:xfrm>
            <a:off x="10378440" y="320040"/>
            <a:ext cx="1280160" cy="676448"/>
          </a:xfrm>
          <a:prstGeom prst="rect">
            <a:avLst/>
          </a:prstGeom>
        </p:spPr>
      </p:pic>
      <p:sp>
        <p:nvSpPr>
          <p:cNvPr id="5" name="TextBox 4"/>
          <p:cNvSpPr txBox="1"/>
          <p:nvPr/>
        </p:nvSpPr>
        <p:spPr>
          <a:xfrm>
            <a:off x="731520" y="320040"/>
            <a:ext cx="9418320" cy="1097280"/>
          </a:xfrm>
          <a:prstGeom prst="rect">
            <a:avLst/>
          </a:prstGeom>
          <a:noFill/>
        </p:spPr>
        <p:txBody>
          <a:bodyPr wrap="square" lIns="0" tIns="0" rIns="0" bIns="0">
            <a:spAutoFit/>
          </a:bodyPr>
          <a:lstStyle/>
          <a:p>
            <a:pPr>
              <a:spcAft>
                <a:spcPts val="200"/>
              </a:spcAft>
              <a:defRPr sz="950" b="1">
                <a:solidFill>
                  <a:srgbClr val="DC2626"/>
                </a:solidFill>
                <a:latin typeface="Segoe UI"/>
              </a:defRPr>
            </a:pPr>
            <a:r>
              <a:t>PRODUCT EXCELLENCE &amp; STRATEGIC VALUE</a:t>
            </a:r>
          </a:p>
          <a:p>
            <a:pPr>
              <a:spcAft>
                <a:spcPts val="200"/>
              </a:spcAft>
              <a:defRPr sz="2200" b="1">
                <a:solidFill>
                  <a:srgbClr val="0F172A"/>
                </a:solidFill>
                <a:latin typeface="Segoe UI"/>
              </a:defRPr>
            </a:pPr>
            <a:r>
              <a:t>Strengthening Dynamics 365 &amp; Maximizing Fujitsu (FTH) Value</a:t>
            </a:r>
          </a:p>
          <a:p>
            <a:pPr>
              <a:defRPr sz="1100">
                <a:solidFill>
                  <a:srgbClr val="475569"/>
                </a:solidFill>
                <a:latin typeface="Segoe UI"/>
              </a:defRPr>
            </a:pPr>
            <a:r>
              <a:t>A strategic technology fusion that drives mutual ROI for enterprise clients and Fujitsu Thailand.</a:t>
            </a:r>
          </a:p>
        </p:txBody>
      </p:sp>
      <p:sp>
        <p:nvSpPr>
          <p:cNvPr id="6" name="Rectangle 5"/>
          <p:cNvSpPr/>
          <p:nvPr/>
        </p:nvSpPr>
        <p:spPr>
          <a:xfrm>
            <a:off x="731520" y="15087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28655" cy="274320"/>
          </a:xfrm>
          <a:prstGeom prst="rect">
            <a:avLst/>
          </a:prstGeom>
          <a:noFill/>
        </p:spPr>
        <p:txBody>
          <a:bodyPr wrap="square" lIns="0" tIns="0" rIns="0" bIns="0">
            <a:spAutoFit/>
          </a:bodyPr>
          <a:lstStyle/>
          <a:p>
            <a:pPr>
              <a:defRPr sz="850" b="1">
                <a:solidFill>
                  <a:srgbClr val="94A3B8"/>
                </a:solidFill>
                <a:latin typeface="Segoe UI"/>
              </a:defRPr>
            </a:pPr>
            <a:r>
              <a:t>FUJITSU THAILAND (FTH) • DYNAMICS 365 &amp; COPILOT AI EXECUTIVE KEYNOTE • SLIDE 3 OF 4</a:t>
            </a:r>
          </a:p>
        </p:txBody>
      </p:sp>
      <p:sp>
        <p:nvSpPr>
          <p:cNvPr id="8" name="Rounded Rectangle 7"/>
          <p:cNvSpPr/>
          <p:nvPr/>
        </p:nvSpPr>
        <p:spPr>
          <a:xfrm>
            <a:off x="731520" y="1691640"/>
            <a:ext cx="5175504"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a:lstStyle/>
          <a:p>
            <a:pPr algn="ctr">
              <a:spcAft>
                <a:spcPts val="1200"/>
              </a:spcAft>
              <a:defRPr sz="1400" b="1">
                <a:solidFill>
                  <a:srgbClr val="0284C7"/>
                </a:solidFill>
                <a:latin typeface="Segoe UI"/>
              </a:defRPr>
            </a:pPr>
            <a:r>
              <a:t>💎 1. Dynamics 365 Product Enhancement</a:t>
            </a:r>
          </a:p>
          <a:p>
            <a:pPr>
              <a:spcAft>
                <a:spcPts val="700"/>
              </a:spcAft>
              <a:defRPr sz="1050" b="1">
                <a:solidFill>
                  <a:srgbClr val="1E293B"/>
                </a:solidFill>
                <a:latin typeface="Segoe UI"/>
              </a:defRPr>
            </a:pPr>
            <a:r>
              <a:t>• Native Copilot Fusion: </a:t>
            </a:r>
            <a:r>
              <a:rPr sz="950" b="0">
                <a:solidFill>
                  <a:srgbClr val="475569"/>
                </a:solidFill>
                <a:latin typeface="Segoe UI"/>
              </a:rPr>
              <a:t>Direct integration with Copilot Studio and Azure AI via Microsoft Dataverse—zero external data leakage.</a:t>
            </a:r>
          </a:p>
          <a:p>
            <a:pPr>
              <a:spcAft>
                <a:spcPts val="700"/>
              </a:spcAft>
              <a:defRPr sz="1050" b="1">
                <a:solidFill>
                  <a:srgbClr val="1E293B"/>
                </a:solidFill>
                <a:latin typeface="Segoe UI"/>
              </a:defRPr>
            </a:pPr>
            <a:r>
              <a:t>• Autonomous Draft Preparation: </a:t>
            </a:r>
            <a:r>
              <a:rPr sz="950" b="0">
                <a:solidFill>
                  <a:srgbClr val="475569"/>
                </a:solidFill>
                <a:latin typeface="Segoe UI"/>
              </a:rPr>
              <a:t>AI extracts data, cross-checks 3-way matching rules, and pre-populates draft vendor invoices—slashing AP review time by &gt;70%.</a:t>
            </a:r>
          </a:p>
          <a:p>
            <a:pPr>
              <a:spcAft>
                <a:spcPts val="700"/>
              </a:spcAft>
              <a:defRPr sz="1050" b="1">
                <a:solidFill>
                  <a:srgbClr val="1E293B"/>
                </a:solidFill>
                <a:latin typeface="Segoe UI"/>
              </a:defRPr>
            </a:pPr>
            <a:r>
              <a:t>• Strict Human-in-the-Loop: </a:t>
            </a:r>
            <a:r>
              <a:rPr sz="950" b="0">
                <a:solidFill>
                  <a:srgbClr val="475569"/>
                </a:solidFill>
                <a:latin typeface="Segoe UI"/>
              </a:rPr>
              <a:t>AI prepares validated drafts; finance professionals retain exclusive approval authority before any journal posting.</a:t>
            </a:r>
          </a:p>
          <a:p>
            <a:pPr>
              <a:spcAft>
                <a:spcPts val="700"/>
              </a:spcAft>
              <a:defRPr sz="1050" b="1">
                <a:solidFill>
                  <a:srgbClr val="1E293B"/>
                </a:solidFill>
                <a:latin typeface="Segoe UI"/>
              </a:defRPr>
            </a:pPr>
            <a:r>
              <a:t>• Total Thai Tax Compliance: </a:t>
            </a:r>
            <a:r>
              <a:rPr sz="950" b="0">
                <a:solidFill>
                  <a:srgbClr val="475569"/>
                </a:solidFill>
                <a:latin typeface="Segoe UI"/>
              </a:rPr>
              <a:t>Comprehensive support for PP.30, PND 3/53, 50 Tawi certificates, and Revenue Dept e-Tax XML formats.</a:t>
            </a:r>
          </a:p>
        </p:txBody>
      </p:sp>
      <p:sp>
        <p:nvSpPr>
          <p:cNvPr id="9" name="Rounded Rectangle 8"/>
          <p:cNvSpPr/>
          <p:nvPr/>
        </p:nvSpPr>
        <p:spPr>
          <a:xfrm>
            <a:off x="731520" y="1691640"/>
            <a:ext cx="5175504" cy="73152"/>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2784" y="1691640"/>
            <a:ext cx="5175504"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a:lstStyle/>
          <a:p>
            <a:pPr algn="ctr">
              <a:spcAft>
                <a:spcPts val="1200"/>
              </a:spcAft>
              <a:defRPr sz="1400" b="1">
                <a:solidFill>
                  <a:srgbClr val="DC2626"/>
                </a:solidFill>
                <a:latin typeface="Segoe UI"/>
              </a:defRPr>
            </a:pPr>
            <a:r>
              <a:t>🏆 2. Fujitsu (FTH) Enterprise Strategic Value</a:t>
            </a:r>
          </a:p>
          <a:p>
            <a:pPr>
              <a:spcAft>
                <a:spcPts val="700"/>
              </a:spcAft>
              <a:defRPr sz="1050" b="1">
                <a:solidFill>
                  <a:srgbClr val="1E293B"/>
                </a:solidFill>
                <a:latin typeface="Segoe UI"/>
              </a:defRPr>
            </a:pPr>
            <a:r>
              <a:t>• First-Mover Market Advantage: </a:t>
            </a:r>
            <a:r>
              <a:rPr sz="950" b="0">
                <a:solidFill>
                  <a:srgbClr val="475569"/>
                </a:solidFill>
                <a:latin typeface="Segoe UI"/>
              </a:rPr>
              <a:t>FTH becomes the first enterprise partner offering a pre-packaged, AI-infused Thai Localization solution, creating a decisive competitive moat.</a:t>
            </a:r>
          </a:p>
          <a:p>
            <a:pPr>
              <a:spcAft>
                <a:spcPts val="700"/>
              </a:spcAft>
              <a:defRPr sz="1050" b="1">
                <a:solidFill>
                  <a:srgbClr val="1E293B"/>
                </a:solidFill>
                <a:latin typeface="Segoe UI"/>
              </a:defRPr>
            </a:pPr>
            <a:r>
              <a:t>• High-Margin Reusable IP Asset: </a:t>
            </a:r>
            <a:r>
              <a:rPr sz="950" b="0">
                <a:solidFill>
                  <a:srgbClr val="475569"/>
                </a:solidFill>
                <a:latin typeface="Segoe UI"/>
              </a:rPr>
              <a:t>Packaged as commercial IP, enabling rapid, repeatable deployment across enterprise clients with lower implementation overhead.</a:t>
            </a:r>
          </a:p>
          <a:p>
            <a:pPr>
              <a:spcAft>
                <a:spcPts val="700"/>
              </a:spcAft>
              <a:defRPr sz="1050" b="1">
                <a:solidFill>
                  <a:srgbClr val="1E293B"/>
                </a:solidFill>
                <a:latin typeface="Segoe UI"/>
              </a:defRPr>
            </a:pPr>
            <a:r>
              <a:t>• Expands Japanese MNC &amp; Corporate Footprint: </a:t>
            </a:r>
            <a:r>
              <a:rPr sz="950" b="0">
                <a:solidFill>
                  <a:srgbClr val="475569"/>
                </a:solidFill>
                <a:latin typeface="Segoe UI"/>
              </a:rPr>
              <a:t>Directly tailored to Japanese multinationals and major Thai conglomerates seeking modern, fully compliant ERP solutions.</a:t>
            </a:r>
          </a:p>
          <a:p>
            <a:pPr>
              <a:spcAft>
                <a:spcPts val="700"/>
              </a:spcAft>
              <a:defRPr sz="1050" b="1">
                <a:solidFill>
                  <a:srgbClr val="1E293B"/>
                </a:solidFill>
                <a:latin typeface="Segoe UI"/>
              </a:defRPr>
            </a:pPr>
            <a:r>
              <a:t>• Reinforces Global Trusted Partner Brand: </a:t>
            </a:r>
            <a:r>
              <a:rPr sz="950" b="0">
                <a:solidFill>
                  <a:srgbClr val="475569"/>
                </a:solidFill>
                <a:latin typeface="Segoe UI"/>
              </a:rPr>
              <a:t>Combines Fujitsu’s renowned Japanese quality and governance standards with Microsoft’s premier enterprise AI platform.</a:t>
            </a:r>
          </a:p>
        </p:txBody>
      </p:sp>
      <p:sp>
        <p:nvSpPr>
          <p:cNvPr id="11" name="Rounded Rectangle 10"/>
          <p:cNvSpPr/>
          <p:nvPr/>
        </p:nvSpPr>
        <p:spPr>
          <a:xfrm>
            <a:off x="6272784" y="1691640"/>
            <a:ext cx="5175504" cy="73152"/>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5806440"/>
            <a:ext cx="10728655" cy="475488"/>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950" b="1">
                <a:solidFill>
                  <a:srgbClr val="059669"/>
                </a:solidFill>
                <a:latin typeface="Segoe UI"/>
              </a:defRPr>
            </a:pPr>
            <a:r>
              <a:t>🎯 Strategic Impact: Transitioning from bespoke custom implementation to leading the market with proprietary Intellectual Property.  ✓ High Margin  ✓ Scalable  ✓ Repeatable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ujitsu_wordmark_clean.png"/>
          <p:cNvPicPr>
            <a:picLocks noChangeAspect="1"/>
          </p:cNvPicPr>
          <p:nvPr/>
        </p:nvPicPr>
        <p:blipFill>
          <a:blip r:embed="rId2"/>
          <a:stretch>
            <a:fillRect/>
          </a:stretch>
        </p:blipFill>
        <p:spPr>
          <a:xfrm>
            <a:off x="10378440" y="320040"/>
            <a:ext cx="1280160" cy="676448"/>
          </a:xfrm>
          <a:prstGeom prst="rect">
            <a:avLst/>
          </a:prstGeom>
        </p:spPr>
      </p:pic>
      <p:sp>
        <p:nvSpPr>
          <p:cNvPr id="5" name="TextBox 4"/>
          <p:cNvSpPr txBox="1"/>
          <p:nvPr/>
        </p:nvSpPr>
        <p:spPr>
          <a:xfrm>
            <a:off x="731520" y="320040"/>
            <a:ext cx="9418320" cy="1097280"/>
          </a:xfrm>
          <a:prstGeom prst="rect">
            <a:avLst/>
          </a:prstGeom>
          <a:noFill/>
        </p:spPr>
        <p:txBody>
          <a:bodyPr wrap="square" lIns="0" tIns="0" rIns="0" bIns="0">
            <a:spAutoFit/>
          </a:bodyPr>
          <a:lstStyle/>
          <a:p>
            <a:pPr>
              <a:spcAft>
                <a:spcPts val="200"/>
              </a:spcAft>
              <a:defRPr sz="950" b="1">
                <a:solidFill>
                  <a:srgbClr val="DC2626"/>
                </a:solidFill>
                <a:latin typeface="Segoe UI"/>
              </a:defRPr>
            </a:pPr>
            <a:r>
              <a:t>SOLUTION ROADMAP &amp; LIVE DEMONSTRATION</a:t>
            </a:r>
          </a:p>
          <a:p>
            <a:pPr>
              <a:spcAft>
                <a:spcPts val="200"/>
              </a:spcAft>
              <a:defRPr sz="2200" b="1">
                <a:solidFill>
                  <a:srgbClr val="0F172A"/>
                </a:solidFill>
                <a:latin typeface="Segoe UI"/>
              </a:defRPr>
            </a:pPr>
            <a:r>
              <a:t>Executive Agenda &amp; Transition to Live Solution Pitch</a:t>
            </a:r>
          </a:p>
          <a:p>
            <a:pPr>
              <a:defRPr sz="1100">
                <a:solidFill>
                  <a:srgbClr val="475569"/>
                </a:solidFill>
                <a:latin typeface="Segoe UI"/>
              </a:defRPr>
            </a:pPr>
            <a:r>
              <a:t>Today’s 12-slide walkthrough and formal handover into the live interactive demonstration platform.</a:t>
            </a:r>
          </a:p>
        </p:txBody>
      </p:sp>
      <p:sp>
        <p:nvSpPr>
          <p:cNvPr id="6" name="Rectangle 5"/>
          <p:cNvSpPr/>
          <p:nvPr/>
        </p:nvSpPr>
        <p:spPr>
          <a:xfrm>
            <a:off x="731520" y="150876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28655" cy="274320"/>
          </a:xfrm>
          <a:prstGeom prst="rect">
            <a:avLst/>
          </a:prstGeom>
          <a:noFill/>
        </p:spPr>
        <p:txBody>
          <a:bodyPr wrap="square" lIns="0" tIns="0" rIns="0" bIns="0">
            <a:spAutoFit/>
          </a:bodyPr>
          <a:lstStyle/>
          <a:p>
            <a:pPr>
              <a:defRPr sz="850" b="1">
                <a:solidFill>
                  <a:srgbClr val="94A3B8"/>
                </a:solidFill>
                <a:latin typeface="Segoe UI"/>
              </a:defRPr>
            </a:pPr>
            <a:r>
              <a:t>FUJITSU THAILAND (FTH) • DYNAMICS 365 &amp; COPILOT AI EXECUTIVE KEYNOTE • SLIDE 4 OF 4</a:t>
            </a:r>
          </a:p>
        </p:txBody>
      </p:sp>
      <p:sp>
        <p:nvSpPr>
          <p:cNvPr id="8" name="Rounded Rectangle 7"/>
          <p:cNvSpPr/>
          <p:nvPr/>
        </p:nvSpPr>
        <p:spPr>
          <a:xfrm>
            <a:off x="731520" y="1691640"/>
            <a:ext cx="6217920" cy="3977639"/>
          </a:xfrm>
          <a:prstGeom prst="roundRect">
            <a:avLst/>
          </a:prstGeom>
          <a:solidFill>
            <a:srgbClr val="F8FAFC"/>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a:lstStyle/>
          <a:p>
            <a:pPr algn="ctr">
              <a:spcAft>
                <a:spcPts val="1200"/>
              </a:spcAft>
              <a:defRPr sz="1400" b="1">
                <a:solidFill>
                  <a:srgbClr val="1E3A8A"/>
                </a:solidFill>
                <a:latin typeface="Segoe UI"/>
              </a:defRPr>
            </a:pPr>
            <a:r>
              <a:t>📑 Key Milestones in Live Interactive Pitch (12 Slides)</a:t>
            </a:r>
          </a:p>
          <a:p>
            <a:pPr>
              <a:spcAft>
                <a:spcPts val="800"/>
              </a:spcAft>
              <a:defRPr sz="1050" b="1">
                <a:solidFill>
                  <a:srgbClr val="1E293B"/>
                </a:solidFill>
                <a:latin typeface="Segoe UI"/>
              </a:defRPr>
            </a:pPr>
            <a:r>
              <a:t>• 1. Official Copilot Architecture (Slide 3): </a:t>
            </a:r>
            <a:r>
              <a:rPr sz="950" b="0">
                <a:solidFill>
                  <a:srgbClr val="475569"/>
                </a:solidFill>
                <a:latin typeface="Segoe UI"/>
              </a:rPr>
              <a:t>Multi-Agent Framework and 100% secure enterprise integration with D365 via Dataverse.</a:t>
            </a:r>
          </a:p>
          <a:p>
            <a:pPr>
              <a:spcAft>
                <a:spcPts val="800"/>
              </a:spcAft>
              <a:defRPr sz="1050" b="1">
                <a:solidFill>
                  <a:srgbClr val="1E293B"/>
                </a:solidFill>
                <a:latin typeface="Segoe UI"/>
              </a:defRPr>
            </a:pPr>
            <a:r>
              <a:t>• 2. Top 5 Thai Localization Use Cases (Slide 4): </a:t>
            </a:r>
            <a:r>
              <a:rPr sz="950" b="0">
                <a:solidFill>
                  <a:srgbClr val="475569"/>
                </a:solidFill>
                <a:latin typeface="Segoe UI"/>
              </a:rPr>
              <a:t>Live walkthrough: AP Invoice Intelligence, Thai Tax Copilot, e-Tax Gateway, Continuous Reconciliation, and Policy Q&amp;A.</a:t>
            </a:r>
          </a:p>
          <a:p>
            <a:pPr>
              <a:spcAft>
                <a:spcPts val="800"/>
              </a:spcAft>
              <a:defRPr sz="1050" b="1">
                <a:solidFill>
                  <a:srgbClr val="1E293B"/>
                </a:solidFill>
                <a:latin typeface="Segoe UI"/>
              </a:defRPr>
            </a:pPr>
            <a:r>
              <a:t>• 3. 8-Week POC Delivery Plan (Slides 10–11): </a:t>
            </a:r>
            <a:r>
              <a:rPr sz="950" b="0">
                <a:solidFill>
                  <a:srgbClr val="475569"/>
                </a:solidFill>
                <a:latin typeface="Segoe UI"/>
              </a:rPr>
              <a:t>Pragmatic, low-risk deployment roadmap delivering fast measurable value and rapid payback.</a:t>
            </a:r>
          </a:p>
          <a:p>
            <a:pPr>
              <a:spcAft>
                <a:spcPts val="800"/>
              </a:spcAft>
              <a:defRPr sz="1050" b="1">
                <a:solidFill>
                  <a:srgbClr val="1E293B"/>
                </a:solidFill>
                <a:latin typeface="Segoe UI"/>
              </a:defRPr>
            </a:pPr>
            <a:r>
              <a:t>• 4. Dual-Host AI Narration &amp; Auto-Tour: </a:t>
            </a:r>
            <a:r>
              <a:rPr sz="950" b="0">
                <a:solidFill>
                  <a:srgbClr val="475569"/>
                </a:solidFill>
                <a:latin typeface="Segoe UI"/>
              </a:rPr>
              <a:t>Production neural studio voice in English &amp; Thai with automated slide tour capabilities.</a:t>
            </a:r>
          </a:p>
        </p:txBody>
      </p:sp>
      <p:sp>
        <p:nvSpPr>
          <p:cNvPr id="9" name="Rounded Rectangle 8"/>
          <p:cNvSpPr/>
          <p:nvPr/>
        </p:nvSpPr>
        <p:spPr>
          <a:xfrm>
            <a:off x="731520" y="1691640"/>
            <a:ext cx="6217920" cy="73152"/>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0" y="1691640"/>
            <a:ext cx="4144975" cy="3977639"/>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a:lstStyle/>
          <a:p>
            <a:pPr algn="ctr">
              <a:spcAft>
                <a:spcPts val="1000"/>
              </a:spcAft>
              <a:defRPr sz="1400" b="1">
                <a:solidFill>
                  <a:srgbClr val="059669"/>
                </a:solidFill>
                <a:latin typeface="Segoe UI"/>
              </a:defRPr>
            </a:pPr>
            <a:r>
              <a:t>🚀 Ready for Live Demonstration</a:t>
            </a:r>
          </a:p>
          <a:p>
            <a:pPr>
              <a:spcAft>
                <a:spcPts val="1400"/>
              </a:spcAft>
              <a:defRPr sz="1050" i="1">
                <a:solidFill>
                  <a:srgbClr val="1E293B"/>
                </a:solidFill>
                <a:latin typeface="Segoe UI"/>
              </a:defRPr>
            </a:pPr>
            <a:r>
              <a:t>"Without further ado, let us now transition directly into the live interactive platform to experience the future of Dynamics 365 and Copilot AI firsthand..."</a:t>
            </a:r>
          </a:p>
          <a:p>
            <a:pPr>
              <a:spcAft>
                <a:spcPts val="200"/>
              </a:spcAft>
              <a:defRPr sz="1000" b="1">
                <a:solidFill>
                  <a:srgbClr val="0F172A"/>
                </a:solidFill>
                <a:latin typeface="Segoe UI"/>
              </a:defRPr>
            </a:pPr>
            <a:r>
              <a:t>🌐 Direct Platform Link (GitHub Pages):</a:t>
            </a:r>
          </a:p>
          <a:p>
            <a:pPr>
              <a:spcAft>
                <a:spcPts val="1400"/>
              </a:spcAft>
              <a:defRPr sz="950" b="1">
                <a:solidFill>
                  <a:srgbClr val="0284C7"/>
                </a:solidFill>
                <a:latin typeface="Segoe UI"/>
              </a:defRPr>
            </a:pPr>
            <a:r>
              <a:t>https://wititgithub.github.io/fth-d365-fo-copilot-deck/</a:t>
            </a:r>
          </a:p>
          <a:p>
            <a:pPr>
              <a:defRPr sz="900">
                <a:solidFill>
                  <a:srgbClr val="94A3B8"/>
                </a:solidFill>
                <a:latin typeface="Segoe UI"/>
              </a:defRPr>
            </a:pPr>
            <a:r>
              <a:t>💡 Host Presentation Cue:</a:t>
            </a:r>
            <a:br/>
            <a:r>
              <a:t>Click the direct URL above or switch to your browser window to start the 12-slide interactive tour.</a:t>
            </a:r>
          </a:p>
        </p:txBody>
      </p:sp>
      <p:sp>
        <p:nvSpPr>
          <p:cNvPr id="11" name="Rounded Rectangle 10"/>
          <p:cNvSpPr/>
          <p:nvPr/>
        </p:nvSpPr>
        <p:spPr>
          <a:xfrm>
            <a:off x="731520" y="5806440"/>
            <a:ext cx="10728655" cy="475488"/>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950" b="1">
                <a:solidFill>
                  <a:srgbClr val="0284C7"/>
                </a:solidFill>
                <a:latin typeface="Segoe UI"/>
              </a:defRPr>
            </a:pPr>
            <a:r>
              <a:t>🚀 Seamless Handover: Transitioning to the 12-slide Live Interactive Pitch Deck with Production Dual-Host AI Audio.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