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Executive Welcome &amp; Strategic Purpose】</a:t>
            </a:r>
          </a:p>
          <a:p>
            <a:r>
              <a:t>Tone: Formal, Confident, Inspiring | Target Duration: ~40 seconds</a:t>
            </a:r>
          </a:p>
          <a:p/>
          <a:p>
            <a:r>
              <a:t>"Good morning, members of the executive leadership team, esteemed colleagues, and distinguished guests.</a:t>
            </a:r>
          </a:p>
          <a:p/>
          <a:p>
            <a:r>
              <a:t>On behalf of Fujitsu Thailand, it is my distinct privilege to welcome you to today’s executive keynote: 'Empowering Enterprise ERP with Microsoft Copilot AI.'</a:t>
            </a:r>
          </a:p>
          <a:p/>
          <a:p>
            <a:r>
              <a:t>As organizations navigate accelerating digital transformation and tightening tax regulations in Thailand, traditional ERP systems must evolve beyond passive data entry. Today, we present Fujitsu’s strategic vision for Dynamics 365 Finance &amp; Operations—natively enhanced by Microsoft Copilot Studio and Azure AI.</a:t>
            </a:r>
          </a:p>
          <a:p/>
          <a:p>
            <a:r>
              <a:t>Our objective today is clear: to demonstrate how autonomous AI streamlines Accounts Payable and Thai tax compliance, while creating proprietary, high-margin Intellectual Property that solidifies Fujitsu Thailand as the premier digital transformation partner in the region.</a:t>
            </a:r>
          </a:p>
          <a:p/>
          <a:p>
            <a:r>
              <a:t>Thank you for your time, and we look forward to an insightful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Industry Shift &amp; Local Regulatory Challenges】</a:t>
            </a:r>
          </a:p>
          <a:p>
            <a:r>
              <a:t>Tone: Strategic, Analytical, Problem-Solving | Target Duration: ~45 seconds</a:t>
            </a:r>
          </a:p>
          <a:p/>
          <a:p>
            <a:r>
              <a:t>"Turning to Slide 2, let us examine the operational realities and regulatory drivers shaping corporate finance today.</a:t>
            </a:r>
          </a:p>
          <a:p/>
          <a:p>
            <a:r>
              <a:t>Historically, ERP systems functioned as Systems of Record—reliable at logging historical transactions, but fundamentally passive. In practice, finance and Accounts Payable teams across Thailand continue to bear an immense manual burden: spending over 70% of their time scrutinizing hundreds of PDF tax invoices, matching purchase orders, and validating 13-digit Tax IDs line by line.</a:t>
            </a:r>
          </a:p>
          <a:p/>
          <a:p>
            <a:r>
              <a:t>Compounding this challenge is Thailand’s rapidly tightening compliance environment. The Revenue Department’s ongoing transition toward mandatory e-Tax Invoices, coupled with intricate Withholding Tax classifications, means that even minor clerical typos risk delayed filings and statutory penalties.</a:t>
            </a:r>
          </a:p>
          <a:p/>
          <a:p>
            <a:r>
              <a:t>This friction represents a transformative opportunity. By elevating Dynamics 365 into a System of Intelligence, we deploy proactive AI agents that pre-validate data, match transactions, and flag discrepancies before posting—converting finance from a transactional cost center into a strategic growth driver."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Product Excellence &amp; Fujitsu Strategic Value】</a:t>
            </a:r>
          </a:p>
          <a:p>
            <a:r>
              <a:t>Tone: Visionary, High-Impact, Balanced | Target Duration: ~50 seconds</a:t>
            </a:r>
          </a:p>
          <a:p/>
          <a:p>
            <a:r>
              <a:t>"On Slide 3, we illustrate how this initiative generates balanced value across both the Dynamics 365 product platform and Fujitsu Thailand’s commercial business.</a:t>
            </a:r>
          </a:p>
          <a:p/>
          <a:p>
            <a:r>
              <a:t>From a product perspective, we natively embed Microsoft Copilot Studio and Azure AI into Dynamics 365 via Dataverse, guaranteeing zero external data leakage. Copilot functions as an autonomous drafting co-pilot: reading invoices, checking 3-way matching, and pre-populating draft journals—slashing cycle times by over 70%. Crucially, we enforce strict Human-in-the-Loop governance: no transaction is committed to the ledger without explicit approval from an authorized accountant.</a:t>
            </a:r>
          </a:p>
          <a:p/>
          <a:p>
            <a:r>
              <a:t>From Fujitsu Thailand’s strategic perspective, this establishes a decisive first-mover advantage. By productizing our localization expertise into reusable, AI-infused Thai Localization IP, we accelerate implementation velocity while capturing higher consulting margins. This offering addresses the acute compliance needs of Japanese multinationals and major domestic enterprises, reinforcing Fujitsu’s legacy of Japanese engineering quality, robust governance, and trusted delivery."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Executive Agenda &amp; Transition to Live Solution Pitch】</a:t>
            </a:r>
          </a:p>
          <a:p>
            <a:r>
              <a:t>Tone: Engaging, Action-Oriented, Inviting | Target Duration: ~30 seconds</a:t>
            </a:r>
          </a:p>
          <a:p/>
          <a:p>
            <a:r>
              <a:t>"Finally, on Slide 4, let us outline today’s interactive agenda.</a:t>
            </a:r>
          </a:p>
          <a:p/>
          <a:p>
            <a:r>
              <a:t>Following this opening briefing, we will transition directly into our production-grade Live Interactive Pitch Platform, which walks through four core pillars across twelve executive slides:</a:t>
            </a:r>
          </a:p>
          <a:p>
            <a:r>
              <a:t>1. First, the official Microsoft Copilot Studio reference architecture, detailing enterprise security, Dataverse integration, and multi-agent coordination;</a:t>
            </a:r>
          </a:p>
          <a:p>
            <a:r>
              <a:t>2. Second, an in-depth walkthrough of our top five Thai localization use cases—spanning AP Invoice Intelligence, Thai Tax Copilot, e-Tax Gateway pre-validation, Continuous Reconciliation, and Policy Q&amp;A;</a:t>
            </a:r>
          </a:p>
          <a:p>
            <a:r>
              <a:t>3. Third, a pragmatic 8-week Proof of Concept delivery roadmap, engineered to deliver measurable ROI and verified business value within two months; and</a:t>
            </a:r>
          </a:p>
          <a:p>
            <a:r>
              <a:t>4. Fourth, an interactive presentation experience equipped with dual-host narration and real-time scenario simulation.</a:t>
            </a:r>
          </a:p>
          <a:p/>
          <a:p>
            <a:r>
              <a:t>Without further delay, I invite our executive team to transition with me into the live interactive platform to witness the future of Dynamics 365 and Copilot AI in action.</a:t>
            </a:r>
          </a:p>
          <a:p/>
          <a:p>
            <a:r>
              <a:t>Please join me as we launch the live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ujitsu_wordmark_clean.png"/>
          <p:cNvPicPr>
            <a:picLocks noChangeAspect="1"/>
          </p:cNvPicPr>
          <p:nvPr/>
        </p:nvPicPr>
        <p:blipFill>
          <a:blip r:embed="rId2"/>
          <a:stretch>
            <a:fillRect/>
          </a:stretch>
        </p:blipFill>
        <p:spPr>
          <a:xfrm>
            <a:off x="10424160" y="320040"/>
            <a:ext cx="1234440" cy="652289"/>
          </a:xfrm>
          <a:prstGeom prst="rect">
            <a:avLst/>
          </a:prstGeom>
        </p:spPr>
      </p:pic>
      <p:sp>
        <p:nvSpPr>
          <p:cNvPr id="5" name="TextBox 4"/>
          <p:cNvSpPr txBox="1"/>
          <p:nvPr/>
        </p:nvSpPr>
        <p:spPr>
          <a:xfrm>
            <a:off x="731520" y="320040"/>
            <a:ext cx="9418320" cy="1005840"/>
          </a:xfrm>
          <a:prstGeom prst="rect">
            <a:avLst/>
          </a:prstGeom>
          <a:noFill/>
        </p:spPr>
        <p:txBody>
          <a:bodyPr wrap="square" lIns="0" tIns="0">
            <a:spAutoFit/>
          </a:bodyPr>
          <a:lstStyle/>
          <a:p>
            <a:pPr>
              <a:spcAft>
                <a:spcPts val="200"/>
              </a:spcAft>
              <a:defRPr sz="950" b="1">
                <a:solidFill>
                  <a:srgbClr val="0284C7"/>
                </a:solidFill>
                <a:latin typeface="Segoe UI"/>
              </a:defRPr>
            </a:pPr>
            <a:r>
              <a:t>FUJITSU THAILAND (FTH) • EXECUTIVE BRIEFING</a:t>
            </a:r>
          </a:p>
          <a:p>
            <a:pPr>
              <a:defRPr sz="2200" b="1">
                <a:solidFill>
                  <a:srgbClr val="0F172A"/>
                </a:solidFill>
                <a:latin typeface="Segoe UI"/>
              </a:defRPr>
            </a:pPr>
            <a:r>
              <a:t>Empowering Enterprise ERP with Microsoft Copilot AI</a:t>
            </a:r>
          </a:p>
        </p:txBody>
      </p:sp>
      <p:sp>
        <p:nvSpPr>
          <p:cNvPr id="6" name="TextBox 5"/>
          <p:cNvSpPr txBox="1"/>
          <p:nvPr/>
        </p:nvSpPr>
        <p:spPr>
          <a:xfrm>
            <a:off x="731520" y="6446520"/>
            <a:ext cx="10728655" cy="274320"/>
          </a:xfrm>
          <a:prstGeom prst="rect">
            <a:avLst/>
          </a:prstGeom>
          <a:noFill/>
        </p:spPr>
        <p:txBody>
          <a:bodyPr wrap="none" lIns="0" tIns="0">
            <a:spAutoFit/>
          </a:bodyPr>
          <a:lstStyle/>
          <a:p>
            <a:pPr>
              <a:defRPr sz="850" b="1">
                <a:solidFill>
                  <a:srgbClr val="94A3B8"/>
                </a:solidFill>
                <a:latin typeface="Segoe UI"/>
              </a:defRPr>
            </a:pPr>
            <a:r>
              <a:t>OPTION 2: EXECUTIVE MINIMALIST &amp; METRICS • SLIDE 1 OF 4</a:t>
            </a:r>
          </a:p>
        </p:txBody>
      </p:sp>
      <p:pic>
        <p:nvPicPr>
          <p:cNvPr id="7" name="Picture 6" descr="copilot_d365_hero_fluent.jpg"/>
          <p:cNvPicPr>
            <a:picLocks noChangeAspect="1"/>
          </p:cNvPicPr>
          <p:nvPr/>
        </p:nvPicPr>
        <p:blipFill>
          <a:blip r:embed="rId3"/>
          <a:stretch>
            <a:fillRect/>
          </a:stretch>
        </p:blipFill>
        <p:spPr>
          <a:xfrm>
            <a:off x="731520" y="1463040"/>
            <a:ext cx="10728655" cy="2286000"/>
          </a:xfrm>
          <a:prstGeom prst="rect">
            <a:avLst/>
          </a:prstGeom>
        </p:spPr>
      </p:pic>
      <p:sp>
        <p:nvSpPr>
          <p:cNvPr id="8" name="Rounded Rectangle 7"/>
          <p:cNvSpPr/>
          <p:nvPr/>
        </p:nvSpPr>
        <p:spPr>
          <a:xfrm>
            <a:off x="731520" y="3931920"/>
            <a:ext cx="2468880" cy="2240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2600" b="1">
                <a:solidFill>
                  <a:srgbClr val="0284C7"/>
                </a:solidFill>
                <a:latin typeface="Segoe UI"/>
              </a:defRPr>
            </a:pPr>
            <a:r>
              <a:t>&gt;70%</a:t>
            </a:r>
          </a:p>
          <a:p>
            <a:pPr>
              <a:spcAft>
                <a:spcPts val="400"/>
              </a:spcAft>
              <a:defRPr sz="1000" b="1">
                <a:solidFill>
                  <a:srgbClr val="0F172A"/>
                </a:solidFill>
                <a:latin typeface="Segoe UI"/>
              </a:defRPr>
            </a:pPr>
            <a:r>
              <a:t>CYCLE REDUCTION</a:t>
            </a:r>
          </a:p>
          <a:p>
            <a:pPr>
              <a:defRPr sz="850">
                <a:solidFill>
                  <a:srgbClr val="475569"/>
                </a:solidFill>
                <a:latin typeface="Segoe UI"/>
              </a:defRPr>
            </a:pPr>
            <a:r>
              <a:t>Autonomous AP extraction &amp; 3-way matching</a:t>
            </a:r>
          </a:p>
        </p:txBody>
      </p:sp>
      <p:sp>
        <p:nvSpPr>
          <p:cNvPr id="9" name="Rounded Rectangle 8"/>
          <p:cNvSpPr/>
          <p:nvPr/>
        </p:nvSpPr>
        <p:spPr>
          <a:xfrm>
            <a:off x="731520" y="3931920"/>
            <a:ext cx="2468880"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83864" y="3931920"/>
            <a:ext cx="2468880" cy="2240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2600" b="1">
                <a:solidFill>
                  <a:srgbClr val="7C3AED"/>
                </a:solidFill>
                <a:latin typeface="Segoe UI"/>
              </a:defRPr>
            </a:pPr>
            <a:r>
              <a:t>100%</a:t>
            </a:r>
          </a:p>
          <a:p>
            <a:pPr>
              <a:spcAft>
                <a:spcPts val="400"/>
              </a:spcAft>
              <a:defRPr sz="1000" b="1">
                <a:solidFill>
                  <a:srgbClr val="0F172A"/>
                </a:solidFill>
                <a:latin typeface="Segoe UI"/>
              </a:defRPr>
            </a:pPr>
            <a:r>
              <a:t>THAI COMPLIANCE</a:t>
            </a:r>
          </a:p>
          <a:p>
            <a:pPr>
              <a:defRPr sz="850">
                <a:solidFill>
                  <a:srgbClr val="475569"/>
                </a:solidFill>
                <a:latin typeface="Segoe UI"/>
              </a:defRPr>
            </a:pPr>
            <a:r>
              <a:t>PP.30 VAT, PND 3/53, 50 Tawi &amp; e-Tax XML</a:t>
            </a:r>
          </a:p>
        </p:txBody>
      </p:sp>
      <p:sp>
        <p:nvSpPr>
          <p:cNvPr id="11" name="Rounded Rectangle 10"/>
          <p:cNvSpPr/>
          <p:nvPr/>
        </p:nvSpPr>
        <p:spPr>
          <a:xfrm>
            <a:off x="3483864" y="3931920"/>
            <a:ext cx="2468880" cy="5486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36208" y="3931920"/>
            <a:ext cx="2468880" cy="2240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2600" b="1">
                <a:solidFill>
                  <a:srgbClr val="059669"/>
                </a:solidFill>
                <a:latin typeface="Segoe UI"/>
              </a:defRPr>
            </a:pPr>
            <a:r>
              <a:t>ZERO</a:t>
            </a:r>
          </a:p>
          <a:p>
            <a:pPr>
              <a:spcAft>
                <a:spcPts val="400"/>
              </a:spcAft>
              <a:defRPr sz="1000" b="1">
                <a:solidFill>
                  <a:srgbClr val="0F172A"/>
                </a:solidFill>
                <a:latin typeface="Segoe UI"/>
              </a:defRPr>
            </a:pPr>
            <a:r>
              <a:t>DATA LEAKAGE</a:t>
            </a:r>
          </a:p>
          <a:p>
            <a:pPr>
              <a:defRPr sz="850">
                <a:solidFill>
                  <a:srgbClr val="475569"/>
                </a:solidFill>
                <a:latin typeface="Segoe UI"/>
              </a:defRPr>
            </a:pPr>
            <a:r>
              <a:t>Grounded in secure Microsoft Dataverse</a:t>
            </a:r>
          </a:p>
        </p:txBody>
      </p:sp>
      <p:sp>
        <p:nvSpPr>
          <p:cNvPr id="13" name="Rounded Rectangle 12"/>
          <p:cNvSpPr/>
          <p:nvPr/>
        </p:nvSpPr>
        <p:spPr>
          <a:xfrm>
            <a:off x="6236208" y="3931920"/>
            <a:ext cx="2468880"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988552" y="3931920"/>
            <a:ext cx="2468880" cy="2240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2600" b="1">
                <a:solidFill>
                  <a:srgbClr val="DC2626"/>
                </a:solidFill>
                <a:latin typeface="Segoe UI"/>
              </a:defRPr>
            </a:pPr>
            <a:r>
              <a:t>HIGH</a:t>
            </a:r>
          </a:p>
          <a:p>
            <a:pPr>
              <a:spcAft>
                <a:spcPts val="400"/>
              </a:spcAft>
              <a:defRPr sz="1000" b="1">
                <a:solidFill>
                  <a:srgbClr val="0F172A"/>
                </a:solidFill>
                <a:latin typeface="Segoe UI"/>
              </a:defRPr>
            </a:pPr>
            <a:r>
              <a:t>STRATEGIC MARGIN</a:t>
            </a:r>
          </a:p>
          <a:p>
            <a:pPr>
              <a:defRPr sz="850">
                <a:solidFill>
                  <a:srgbClr val="475569"/>
                </a:solidFill>
                <a:latin typeface="Segoe UI"/>
              </a:defRPr>
            </a:pPr>
            <a:r>
              <a:t>Repeatable enterprise IP asset for FTH</a:t>
            </a:r>
          </a:p>
        </p:txBody>
      </p:sp>
      <p:sp>
        <p:nvSpPr>
          <p:cNvPr id="15" name="Rounded Rectangle 14"/>
          <p:cNvSpPr/>
          <p:nvPr/>
        </p:nvSpPr>
        <p:spPr>
          <a:xfrm>
            <a:off x="8988552" y="3931920"/>
            <a:ext cx="2468880" cy="5486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ujitsu_wordmark_clean.png"/>
          <p:cNvPicPr>
            <a:picLocks noChangeAspect="1"/>
          </p:cNvPicPr>
          <p:nvPr/>
        </p:nvPicPr>
        <p:blipFill>
          <a:blip r:embed="rId2"/>
          <a:stretch>
            <a:fillRect/>
          </a:stretch>
        </p:blipFill>
        <p:spPr>
          <a:xfrm>
            <a:off x="10424160" y="320040"/>
            <a:ext cx="1234440" cy="652289"/>
          </a:xfrm>
          <a:prstGeom prst="rect">
            <a:avLst/>
          </a:prstGeom>
        </p:spPr>
      </p:pic>
      <p:sp>
        <p:nvSpPr>
          <p:cNvPr id="5" name="TextBox 4"/>
          <p:cNvSpPr txBox="1"/>
          <p:nvPr/>
        </p:nvSpPr>
        <p:spPr>
          <a:xfrm>
            <a:off x="731520" y="320040"/>
            <a:ext cx="9418320" cy="1005840"/>
          </a:xfrm>
          <a:prstGeom prst="rect">
            <a:avLst/>
          </a:prstGeom>
          <a:noFill/>
        </p:spPr>
        <p:txBody>
          <a:bodyPr wrap="square" lIns="0" tIns="0">
            <a:spAutoFit/>
          </a:bodyPr>
          <a:lstStyle/>
          <a:p>
            <a:pPr>
              <a:spcAft>
                <a:spcPts val="200"/>
              </a:spcAft>
              <a:defRPr sz="950" b="1">
                <a:solidFill>
                  <a:srgbClr val="0284C7"/>
                </a:solidFill>
                <a:latin typeface="Segoe UI"/>
              </a:defRPr>
            </a:pPr>
            <a:r>
              <a:t>MARKET CHALLENGES &amp; TRANSFORMATION</a:t>
            </a:r>
          </a:p>
          <a:p>
            <a:pPr>
              <a:defRPr sz="2200" b="1">
                <a:solidFill>
                  <a:srgbClr val="0F172A"/>
                </a:solidFill>
                <a:latin typeface="Segoe UI"/>
              </a:defRPr>
            </a:pPr>
            <a:r>
              <a:t>The Shift: From System of Record to System of Intelligence</a:t>
            </a:r>
          </a:p>
        </p:txBody>
      </p:sp>
      <p:sp>
        <p:nvSpPr>
          <p:cNvPr id="6" name="TextBox 5"/>
          <p:cNvSpPr txBox="1"/>
          <p:nvPr/>
        </p:nvSpPr>
        <p:spPr>
          <a:xfrm>
            <a:off x="731520" y="6446520"/>
            <a:ext cx="10728655" cy="274320"/>
          </a:xfrm>
          <a:prstGeom prst="rect">
            <a:avLst/>
          </a:prstGeom>
          <a:noFill/>
        </p:spPr>
        <p:txBody>
          <a:bodyPr wrap="none" lIns="0" tIns="0">
            <a:spAutoFit/>
          </a:bodyPr>
          <a:lstStyle/>
          <a:p>
            <a:pPr>
              <a:defRPr sz="850" b="1">
                <a:solidFill>
                  <a:srgbClr val="94A3B8"/>
                </a:solidFill>
                <a:latin typeface="Segoe UI"/>
              </a:defRPr>
            </a:pPr>
            <a:r>
              <a:t>OPTION 2: EXECUTIVE MINIMALIST &amp; METRICS • SLIDE 2 OF 4</a:t>
            </a:r>
          </a:p>
        </p:txBody>
      </p:sp>
      <p:pic>
        <p:nvPicPr>
          <p:cNvPr id="7" name="Picture 6" descr="paradigm_shift_3d.jpg"/>
          <p:cNvPicPr>
            <a:picLocks noChangeAspect="1"/>
          </p:cNvPicPr>
          <p:nvPr/>
        </p:nvPicPr>
        <p:blipFill>
          <a:blip r:embed="rId3"/>
          <a:stretch>
            <a:fillRect/>
          </a:stretch>
        </p:blipFill>
        <p:spPr>
          <a:xfrm>
            <a:off x="731520" y="1463040"/>
            <a:ext cx="10728655" cy="2286000"/>
          </a:xfrm>
          <a:prstGeom prst="rect">
            <a:avLst/>
          </a:prstGeom>
        </p:spPr>
      </p:pic>
      <p:sp>
        <p:nvSpPr>
          <p:cNvPr id="8" name="Rounded Rectangle 7"/>
          <p:cNvSpPr/>
          <p:nvPr/>
        </p:nvSpPr>
        <p:spPr>
          <a:xfrm>
            <a:off x="731520" y="3931920"/>
            <a:ext cx="2468880" cy="2240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2600" b="1">
                <a:solidFill>
                  <a:srgbClr val="DC2626"/>
                </a:solidFill>
                <a:latin typeface="Segoe UI"/>
              </a:defRPr>
            </a:pPr>
            <a:r>
              <a:t>70%+</a:t>
            </a:r>
          </a:p>
          <a:p>
            <a:pPr>
              <a:spcAft>
                <a:spcPts val="400"/>
              </a:spcAft>
              <a:defRPr sz="1000" b="1">
                <a:solidFill>
                  <a:srgbClr val="0F172A"/>
                </a:solidFill>
                <a:latin typeface="Segoe UI"/>
              </a:defRPr>
            </a:pPr>
            <a:r>
              <a:t>MANUAL BURDEN</a:t>
            </a:r>
          </a:p>
          <a:p>
            <a:pPr>
              <a:defRPr sz="850">
                <a:solidFill>
                  <a:srgbClr val="475569"/>
                </a:solidFill>
                <a:latin typeface="Segoe UI"/>
              </a:defRPr>
            </a:pPr>
            <a:r>
              <a:t>Unproductive time spent reviewing paper/PDFs</a:t>
            </a:r>
          </a:p>
        </p:txBody>
      </p:sp>
      <p:sp>
        <p:nvSpPr>
          <p:cNvPr id="9" name="Rounded Rectangle 8"/>
          <p:cNvSpPr/>
          <p:nvPr/>
        </p:nvSpPr>
        <p:spPr>
          <a:xfrm>
            <a:off x="731520" y="3931920"/>
            <a:ext cx="2468880" cy="5486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83864" y="3931920"/>
            <a:ext cx="2468880" cy="2240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2600" b="1">
                <a:solidFill>
                  <a:srgbClr val="7C3AED"/>
                </a:solidFill>
                <a:latin typeface="Segoe UI"/>
              </a:defRPr>
            </a:pPr>
            <a:r>
              <a:t>13-DIGIT</a:t>
            </a:r>
          </a:p>
          <a:p>
            <a:pPr>
              <a:spcAft>
                <a:spcPts val="400"/>
              </a:spcAft>
              <a:defRPr sz="1000" b="1">
                <a:solidFill>
                  <a:srgbClr val="0F172A"/>
                </a:solidFill>
                <a:latin typeface="Segoe UI"/>
              </a:defRPr>
            </a:pPr>
            <a:r>
              <a:t>TAX ID PRECISION</a:t>
            </a:r>
          </a:p>
          <a:p>
            <a:pPr>
              <a:defRPr sz="850">
                <a:solidFill>
                  <a:srgbClr val="475569"/>
                </a:solidFill>
                <a:latin typeface="Segoe UI"/>
              </a:defRPr>
            </a:pPr>
            <a:r>
              <a:t>Automatic verification eliminates filing errors</a:t>
            </a:r>
          </a:p>
        </p:txBody>
      </p:sp>
      <p:sp>
        <p:nvSpPr>
          <p:cNvPr id="11" name="Rounded Rectangle 10"/>
          <p:cNvSpPr/>
          <p:nvPr/>
        </p:nvSpPr>
        <p:spPr>
          <a:xfrm>
            <a:off x="3483864" y="3931920"/>
            <a:ext cx="2468880" cy="5486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36208" y="3931920"/>
            <a:ext cx="2468880" cy="2240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2600" b="1">
                <a:solidFill>
                  <a:srgbClr val="0284C7"/>
                </a:solidFill>
                <a:latin typeface="Segoe UI"/>
              </a:defRPr>
            </a:pPr>
            <a:r>
              <a:t>e-TAX</a:t>
            </a:r>
          </a:p>
          <a:p>
            <a:pPr>
              <a:spcAft>
                <a:spcPts val="400"/>
              </a:spcAft>
              <a:defRPr sz="1000" b="1">
                <a:solidFill>
                  <a:srgbClr val="0F172A"/>
                </a:solidFill>
                <a:latin typeface="Segoe UI"/>
              </a:defRPr>
            </a:pPr>
            <a:r>
              <a:t>MANDATE READY</a:t>
            </a:r>
          </a:p>
          <a:p>
            <a:pPr>
              <a:defRPr sz="850">
                <a:solidFill>
                  <a:srgbClr val="475569"/>
                </a:solidFill>
                <a:latin typeface="Segoe UI"/>
              </a:defRPr>
            </a:pPr>
            <a:r>
              <a:t>Pre-submission XML validation gate</a:t>
            </a:r>
          </a:p>
        </p:txBody>
      </p:sp>
      <p:sp>
        <p:nvSpPr>
          <p:cNvPr id="13" name="Rounded Rectangle 12"/>
          <p:cNvSpPr/>
          <p:nvPr/>
        </p:nvSpPr>
        <p:spPr>
          <a:xfrm>
            <a:off x="6236208" y="3931920"/>
            <a:ext cx="2468880"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988552" y="3931920"/>
            <a:ext cx="2468880" cy="2240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2600" b="1">
                <a:solidFill>
                  <a:srgbClr val="059669"/>
                </a:solidFill>
                <a:latin typeface="Segoe UI"/>
              </a:defRPr>
            </a:pPr>
            <a:r>
              <a:t>PROACTIVE</a:t>
            </a:r>
          </a:p>
          <a:p>
            <a:pPr>
              <a:spcAft>
                <a:spcPts val="400"/>
              </a:spcAft>
              <a:defRPr sz="1000" b="1">
                <a:solidFill>
                  <a:srgbClr val="0F172A"/>
                </a:solidFill>
                <a:latin typeface="Segoe UI"/>
              </a:defRPr>
            </a:pPr>
            <a:r>
              <a:t>CONTINUOUS AUDIT</a:t>
            </a:r>
          </a:p>
          <a:p>
            <a:pPr>
              <a:defRPr sz="850">
                <a:solidFill>
                  <a:srgbClr val="475569"/>
                </a:solidFill>
                <a:latin typeface="Segoe UI"/>
              </a:defRPr>
            </a:pPr>
            <a:r>
              <a:t>Discrepancies caught before month-end close</a:t>
            </a:r>
          </a:p>
        </p:txBody>
      </p:sp>
      <p:sp>
        <p:nvSpPr>
          <p:cNvPr id="15" name="Rounded Rectangle 14"/>
          <p:cNvSpPr/>
          <p:nvPr/>
        </p:nvSpPr>
        <p:spPr>
          <a:xfrm>
            <a:off x="8988552" y="3931920"/>
            <a:ext cx="2468880"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ujitsu_wordmark_clean.png"/>
          <p:cNvPicPr>
            <a:picLocks noChangeAspect="1"/>
          </p:cNvPicPr>
          <p:nvPr/>
        </p:nvPicPr>
        <p:blipFill>
          <a:blip r:embed="rId2"/>
          <a:stretch>
            <a:fillRect/>
          </a:stretch>
        </p:blipFill>
        <p:spPr>
          <a:xfrm>
            <a:off x="10424160" y="320040"/>
            <a:ext cx="1234440" cy="652289"/>
          </a:xfrm>
          <a:prstGeom prst="rect">
            <a:avLst/>
          </a:prstGeom>
        </p:spPr>
      </p:pic>
      <p:sp>
        <p:nvSpPr>
          <p:cNvPr id="5" name="TextBox 4"/>
          <p:cNvSpPr txBox="1"/>
          <p:nvPr/>
        </p:nvSpPr>
        <p:spPr>
          <a:xfrm>
            <a:off x="731520" y="320040"/>
            <a:ext cx="9418320" cy="1005840"/>
          </a:xfrm>
          <a:prstGeom prst="rect">
            <a:avLst/>
          </a:prstGeom>
          <a:noFill/>
        </p:spPr>
        <p:txBody>
          <a:bodyPr wrap="square" lIns="0" tIns="0">
            <a:spAutoFit/>
          </a:bodyPr>
          <a:lstStyle/>
          <a:p>
            <a:pPr>
              <a:spcAft>
                <a:spcPts val="200"/>
              </a:spcAft>
              <a:defRPr sz="950" b="1">
                <a:solidFill>
                  <a:srgbClr val="0284C7"/>
                </a:solidFill>
                <a:latin typeface="Segoe UI"/>
              </a:defRPr>
            </a:pPr>
            <a:r>
              <a:t>STRATEGIC TECHNOLOGY &amp; MARKET FUSION</a:t>
            </a:r>
          </a:p>
          <a:p>
            <a:pPr>
              <a:defRPr sz="2200" b="1">
                <a:solidFill>
                  <a:srgbClr val="0F172A"/>
                </a:solidFill>
                <a:latin typeface="Segoe UI"/>
              </a:defRPr>
            </a:pPr>
            <a:r>
              <a:t>Strengthening Dynamics 365 &amp; Maximizing Fujitsu Value</a:t>
            </a:r>
          </a:p>
        </p:txBody>
      </p:sp>
      <p:sp>
        <p:nvSpPr>
          <p:cNvPr id="6" name="TextBox 5"/>
          <p:cNvSpPr txBox="1"/>
          <p:nvPr/>
        </p:nvSpPr>
        <p:spPr>
          <a:xfrm>
            <a:off x="731520" y="6446520"/>
            <a:ext cx="10728655" cy="274320"/>
          </a:xfrm>
          <a:prstGeom prst="rect">
            <a:avLst/>
          </a:prstGeom>
          <a:noFill/>
        </p:spPr>
        <p:txBody>
          <a:bodyPr wrap="none" lIns="0" tIns="0">
            <a:spAutoFit/>
          </a:bodyPr>
          <a:lstStyle/>
          <a:p>
            <a:pPr>
              <a:defRPr sz="850" b="1">
                <a:solidFill>
                  <a:srgbClr val="94A3B8"/>
                </a:solidFill>
                <a:latin typeface="Segoe UI"/>
              </a:defRPr>
            </a:pPr>
            <a:r>
              <a:t>OPTION 2: EXECUTIVE MINIMALIST &amp; METRICS • SLIDE 3 OF 4</a:t>
            </a:r>
          </a:p>
        </p:txBody>
      </p:sp>
      <p:pic>
        <p:nvPicPr>
          <p:cNvPr id="7" name="Picture 6" descr="fujitsu_copilot_value_3d.jpg"/>
          <p:cNvPicPr>
            <a:picLocks noChangeAspect="1"/>
          </p:cNvPicPr>
          <p:nvPr/>
        </p:nvPicPr>
        <p:blipFill>
          <a:blip r:embed="rId3"/>
          <a:stretch>
            <a:fillRect/>
          </a:stretch>
        </p:blipFill>
        <p:spPr>
          <a:xfrm>
            <a:off x="731520" y="1463040"/>
            <a:ext cx="10728655" cy="2286000"/>
          </a:xfrm>
          <a:prstGeom prst="rect">
            <a:avLst/>
          </a:prstGeom>
        </p:spPr>
      </p:pic>
      <p:sp>
        <p:nvSpPr>
          <p:cNvPr id="8" name="Rounded Rectangle 7"/>
          <p:cNvSpPr/>
          <p:nvPr/>
        </p:nvSpPr>
        <p:spPr>
          <a:xfrm>
            <a:off x="731520" y="3931920"/>
            <a:ext cx="2468880" cy="2240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2600" b="1">
                <a:solidFill>
                  <a:srgbClr val="0284C7"/>
                </a:solidFill>
                <a:latin typeface="Segoe UI"/>
              </a:defRPr>
            </a:pPr>
            <a:r>
              <a:t>NATIVE</a:t>
            </a:r>
          </a:p>
          <a:p>
            <a:pPr>
              <a:spcAft>
                <a:spcPts val="400"/>
              </a:spcAft>
              <a:defRPr sz="1000" b="1">
                <a:solidFill>
                  <a:srgbClr val="0F172A"/>
                </a:solidFill>
                <a:latin typeface="Segoe UI"/>
              </a:defRPr>
            </a:pPr>
            <a:r>
              <a:t>COPILOT FUSION</a:t>
            </a:r>
          </a:p>
          <a:p>
            <a:pPr>
              <a:defRPr sz="850">
                <a:solidFill>
                  <a:srgbClr val="475569"/>
                </a:solidFill>
                <a:latin typeface="Segoe UI"/>
              </a:defRPr>
            </a:pPr>
            <a:r>
              <a:t>Deep integration into standard D365 processes</a:t>
            </a:r>
          </a:p>
        </p:txBody>
      </p:sp>
      <p:sp>
        <p:nvSpPr>
          <p:cNvPr id="9" name="Rounded Rectangle 8"/>
          <p:cNvSpPr/>
          <p:nvPr/>
        </p:nvSpPr>
        <p:spPr>
          <a:xfrm>
            <a:off x="731520" y="3931920"/>
            <a:ext cx="2468880"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83864" y="3931920"/>
            <a:ext cx="2468880" cy="2240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2600" b="1">
                <a:solidFill>
                  <a:srgbClr val="059669"/>
                </a:solidFill>
                <a:latin typeface="Segoe UI"/>
              </a:defRPr>
            </a:pPr>
            <a:r>
              <a:t>APPROVAL</a:t>
            </a:r>
          </a:p>
          <a:p>
            <a:pPr>
              <a:spcAft>
                <a:spcPts val="400"/>
              </a:spcAft>
              <a:defRPr sz="1000" b="1">
                <a:solidFill>
                  <a:srgbClr val="0F172A"/>
                </a:solidFill>
                <a:latin typeface="Segoe UI"/>
              </a:defRPr>
            </a:pPr>
            <a:r>
              <a:t>HUMAN-IN-THE-LOOP</a:t>
            </a:r>
          </a:p>
          <a:p>
            <a:pPr>
              <a:defRPr sz="850">
                <a:solidFill>
                  <a:srgbClr val="475569"/>
                </a:solidFill>
                <a:latin typeface="Segoe UI"/>
              </a:defRPr>
            </a:pPr>
            <a:r>
              <a:t>Accountants retain full journal sign-off authority</a:t>
            </a:r>
          </a:p>
        </p:txBody>
      </p:sp>
      <p:sp>
        <p:nvSpPr>
          <p:cNvPr id="11" name="Rounded Rectangle 10"/>
          <p:cNvSpPr/>
          <p:nvPr/>
        </p:nvSpPr>
        <p:spPr>
          <a:xfrm>
            <a:off x="3483864" y="3931920"/>
            <a:ext cx="2468880"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36208" y="3931920"/>
            <a:ext cx="2468880" cy="2240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2600" b="1">
                <a:solidFill>
                  <a:srgbClr val="DC2626"/>
                </a:solidFill>
                <a:latin typeface="Segoe UI"/>
              </a:defRPr>
            </a:pPr>
            <a:r>
              <a:t>1ST MOVER</a:t>
            </a:r>
          </a:p>
          <a:p>
            <a:pPr>
              <a:spcAft>
                <a:spcPts val="400"/>
              </a:spcAft>
              <a:defRPr sz="1000" b="1">
                <a:solidFill>
                  <a:srgbClr val="0F172A"/>
                </a:solidFill>
                <a:latin typeface="Segoe UI"/>
              </a:defRPr>
            </a:pPr>
            <a:r>
              <a:t>MARKET LEAD</a:t>
            </a:r>
          </a:p>
          <a:p>
            <a:pPr>
              <a:defRPr sz="850">
                <a:solidFill>
                  <a:srgbClr val="475569"/>
                </a:solidFill>
                <a:latin typeface="Segoe UI"/>
              </a:defRPr>
            </a:pPr>
            <a:r>
              <a:t>Premier AI Thai Localization packaged solution</a:t>
            </a:r>
          </a:p>
        </p:txBody>
      </p:sp>
      <p:sp>
        <p:nvSpPr>
          <p:cNvPr id="13" name="Rounded Rectangle 12"/>
          <p:cNvSpPr/>
          <p:nvPr/>
        </p:nvSpPr>
        <p:spPr>
          <a:xfrm>
            <a:off x="6236208" y="3931920"/>
            <a:ext cx="2468880" cy="5486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988552" y="3931920"/>
            <a:ext cx="2468880" cy="2240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2600" b="1">
                <a:solidFill>
                  <a:srgbClr val="7C3AED"/>
                </a:solidFill>
                <a:latin typeface="Segoe UI"/>
              </a:defRPr>
            </a:pPr>
            <a:r>
              <a:t>JAPANESE</a:t>
            </a:r>
          </a:p>
          <a:p>
            <a:pPr>
              <a:spcAft>
                <a:spcPts val="400"/>
              </a:spcAft>
              <a:defRPr sz="1000" b="1">
                <a:solidFill>
                  <a:srgbClr val="0F172A"/>
                </a:solidFill>
                <a:latin typeface="Segoe UI"/>
              </a:defRPr>
            </a:pPr>
            <a:r>
              <a:t>QUALITY STANDARD</a:t>
            </a:r>
          </a:p>
          <a:p>
            <a:pPr>
              <a:defRPr sz="850">
                <a:solidFill>
                  <a:srgbClr val="475569"/>
                </a:solidFill>
                <a:latin typeface="Segoe UI"/>
              </a:defRPr>
            </a:pPr>
            <a:r>
              <a:t>Fujitsu enterprise governance &amp; delivery trust</a:t>
            </a:r>
          </a:p>
        </p:txBody>
      </p:sp>
      <p:sp>
        <p:nvSpPr>
          <p:cNvPr id="15" name="Rounded Rectangle 14"/>
          <p:cNvSpPr/>
          <p:nvPr/>
        </p:nvSpPr>
        <p:spPr>
          <a:xfrm>
            <a:off x="8988552" y="3931920"/>
            <a:ext cx="2468880" cy="5486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ujitsu_wordmark_clean.png"/>
          <p:cNvPicPr>
            <a:picLocks noChangeAspect="1"/>
          </p:cNvPicPr>
          <p:nvPr/>
        </p:nvPicPr>
        <p:blipFill>
          <a:blip r:embed="rId2"/>
          <a:stretch>
            <a:fillRect/>
          </a:stretch>
        </p:blipFill>
        <p:spPr>
          <a:xfrm>
            <a:off x="10424160" y="320040"/>
            <a:ext cx="1234440" cy="652289"/>
          </a:xfrm>
          <a:prstGeom prst="rect">
            <a:avLst/>
          </a:prstGeom>
        </p:spPr>
      </p:pic>
      <p:sp>
        <p:nvSpPr>
          <p:cNvPr id="5" name="TextBox 4"/>
          <p:cNvSpPr txBox="1"/>
          <p:nvPr/>
        </p:nvSpPr>
        <p:spPr>
          <a:xfrm>
            <a:off x="731520" y="320040"/>
            <a:ext cx="9418320" cy="1005840"/>
          </a:xfrm>
          <a:prstGeom prst="rect">
            <a:avLst/>
          </a:prstGeom>
          <a:noFill/>
        </p:spPr>
        <p:txBody>
          <a:bodyPr wrap="square" lIns="0" tIns="0">
            <a:spAutoFit/>
          </a:bodyPr>
          <a:lstStyle/>
          <a:p>
            <a:pPr>
              <a:spcAft>
                <a:spcPts val="200"/>
              </a:spcAft>
              <a:defRPr sz="950" b="1">
                <a:solidFill>
                  <a:srgbClr val="0284C7"/>
                </a:solidFill>
                <a:latin typeface="Segoe UI"/>
              </a:defRPr>
            </a:pPr>
            <a:r>
              <a:t>DEMONSTRATION ROADMAP &amp; HANDOVER</a:t>
            </a:r>
          </a:p>
          <a:p>
            <a:pPr>
              <a:defRPr sz="2200" b="1">
                <a:solidFill>
                  <a:srgbClr val="0F172A"/>
                </a:solidFill>
                <a:latin typeface="Segoe UI"/>
              </a:defRPr>
            </a:pPr>
            <a:r>
              <a:t>Executive Agenda &amp; Transition to Live Solution Pitch</a:t>
            </a:r>
          </a:p>
        </p:txBody>
      </p:sp>
      <p:sp>
        <p:nvSpPr>
          <p:cNvPr id="6" name="TextBox 5"/>
          <p:cNvSpPr txBox="1"/>
          <p:nvPr/>
        </p:nvSpPr>
        <p:spPr>
          <a:xfrm>
            <a:off x="731520" y="6446520"/>
            <a:ext cx="10728655" cy="274320"/>
          </a:xfrm>
          <a:prstGeom prst="rect">
            <a:avLst/>
          </a:prstGeom>
          <a:noFill/>
        </p:spPr>
        <p:txBody>
          <a:bodyPr wrap="none" lIns="0" tIns="0">
            <a:spAutoFit/>
          </a:bodyPr>
          <a:lstStyle/>
          <a:p>
            <a:pPr>
              <a:defRPr sz="850" b="1">
                <a:solidFill>
                  <a:srgbClr val="94A3B8"/>
                </a:solidFill>
                <a:latin typeface="Segoe UI"/>
              </a:defRPr>
            </a:pPr>
            <a:r>
              <a:t>OPTION 2: EXECUTIVE MINIMALIST &amp; METRICS • SLIDE 4 OF 4</a:t>
            </a:r>
          </a:p>
        </p:txBody>
      </p:sp>
      <p:pic>
        <p:nvPicPr>
          <p:cNvPr id="7" name="Picture 6" descr="live_demo_portal_3d.jpg"/>
          <p:cNvPicPr>
            <a:picLocks noChangeAspect="1"/>
          </p:cNvPicPr>
          <p:nvPr/>
        </p:nvPicPr>
        <p:blipFill>
          <a:blip r:embed="rId3"/>
          <a:stretch>
            <a:fillRect/>
          </a:stretch>
        </p:blipFill>
        <p:spPr>
          <a:xfrm>
            <a:off x="731520" y="1463040"/>
            <a:ext cx="10728655" cy="2286000"/>
          </a:xfrm>
          <a:prstGeom prst="rect">
            <a:avLst/>
          </a:prstGeom>
        </p:spPr>
      </p:pic>
      <p:sp>
        <p:nvSpPr>
          <p:cNvPr id="8" name="Rounded Rectangle 7"/>
          <p:cNvSpPr/>
          <p:nvPr/>
        </p:nvSpPr>
        <p:spPr>
          <a:xfrm>
            <a:off x="731520" y="3931920"/>
            <a:ext cx="2468880" cy="2240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2600" b="1">
                <a:solidFill>
                  <a:srgbClr val="0284C7"/>
                </a:solidFill>
                <a:latin typeface="Segoe UI"/>
              </a:defRPr>
            </a:pPr>
            <a:r>
              <a:t>STAGE 1</a:t>
            </a:r>
          </a:p>
          <a:p>
            <a:pPr>
              <a:spcAft>
                <a:spcPts val="400"/>
              </a:spcAft>
              <a:defRPr sz="1000" b="1">
                <a:solidFill>
                  <a:srgbClr val="0F172A"/>
                </a:solidFill>
                <a:latin typeface="Segoe UI"/>
              </a:defRPr>
            </a:pPr>
            <a:r>
              <a:t>COPILOT ARCH</a:t>
            </a:r>
          </a:p>
          <a:p>
            <a:pPr>
              <a:defRPr sz="850">
                <a:solidFill>
                  <a:srgbClr val="475569"/>
                </a:solidFill>
                <a:latin typeface="Segoe UI"/>
              </a:defRPr>
            </a:pPr>
            <a:r>
              <a:t>Multi-Agent Dataverse framework (Slide 3)</a:t>
            </a:r>
          </a:p>
        </p:txBody>
      </p:sp>
      <p:sp>
        <p:nvSpPr>
          <p:cNvPr id="9" name="Rounded Rectangle 8"/>
          <p:cNvSpPr/>
          <p:nvPr/>
        </p:nvSpPr>
        <p:spPr>
          <a:xfrm>
            <a:off x="731520" y="3931920"/>
            <a:ext cx="2468880"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83864" y="3931920"/>
            <a:ext cx="2468880" cy="2240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2600" b="1">
                <a:solidFill>
                  <a:srgbClr val="7C3AED"/>
                </a:solidFill>
                <a:latin typeface="Segoe UI"/>
              </a:defRPr>
            </a:pPr>
            <a:r>
              <a:t>STAGE 2</a:t>
            </a:r>
          </a:p>
          <a:p>
            <a:pPr>
              <a:spcAft>
                <a:spcPts val="400"/>
              </a:spcAft>
              <a:defRPr sz="1000" b="1">
                <a:solidFill>
                  <a:srgbClr val="0F172A"/>
                </a:solidFill>
                <a:latin typeface="Segoe UI"/>
              </a:defRPr>
            </a:pPr>
            <a:r>
              <a:t>5 USE CASES</a:t>
            </a:r>
          </a:p>
          <a:p>
            <a:pPr>
              <a:defRPr sz="850">
                <a:solidFill>
                  <a:srgbClr val="475569"/>
                </a:solidFill>
                <a:latin typeface="Segoe UI"/>
              </a:defRPr>
            </a:pPr>
            <a:r>
              <a:t>AP, Thai Tax, e-Tax, Reconciliation (Slide 4)</a:t>
            </a:r>
          </a:p>
        </p:txBody>
      </p:sp>
      <p:sp>
        <p:nvSpPr>
          <p:cNvPr id="11" name="Rounded Rectangle 10"/>
          <p:cNvSpPr/>
          <p:nvPr/>
        </p:nvSpPr>
        <p:spPr>
          <a:xfrm>
            <a:off x="3483864" y="3931920"/>
            <a:ext cx="2468880" cy="5486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36208" y="3931920"/>
            <a:ext cx="2468880" cy="2240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2600" b="1">
                <a:solidFill>
                  <a:srgbClr val="059669"/>
                </a:solidFill>
                <a:latin typeface="Segoe UI"/>
              </a:defRPr>
            </a:pPr>
            <a:r>
              <a:t>8 WEEKS</a:t>
            </a:r>
          </a:p>
          <a:p>
            <a:pPr>
              <a:spcAft>
                <a:spcPts val="400"/>
              </a:spcAft>
              <a:defRPr sz="1000" b="1">
                <a:solidFill>
                  <a:srgbClr val="0F172A"/>
                </a:solidFill>
                <a:latin typeface="Segoe UI"/>
              </a:defRPr>
            </a:pPr>
            <a:r>
              <a:t>POC DELIVERY</a:t>
            </a:r>
          </a:p>
          <a:p>
            <a:pPr>
              <a:defRPr sz="850">
                <a:solidFill>
                  <a:srgbClr val="475569"/>
                </a:solidFill>
                <a:latin typeface="Segoe UI"/>
              </a:defRPr>
            </a:pPr>
            <a:r>
              <a:t>Low-risk, high-velocity ROI verification</a:t>
            </a:r>
          </a:p>
        </p:txBody>
      </p:sp>
      <p:sp>
        <p:nvSpPr>
          <p:cNvPr id="13" name="Rounded Rectangle 12"/>
          <p:cNvSpPr/>
          <p:nvPr/>
        </p:nvSpPr>
        <p:spPr>
          <a:xfrm>
            <a:off x="6236208" y="3931920"/>
            <a:ext cx="2468880" cy="5486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988552" y="3931920"/>
            <a:ext cx="2468880" cy="2240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2600" b="1">
                <a:solidFill>
                  <a:srgbClr val="DC2626"/>
                </a:solidFill>
                <a:latin typeface="Segoe UI"/>
              </a:defRPr>
            </a:pPr>
            <a:r>
              <a:t>LIVE NOW</a:t>
            </a:r>
          </a:p>
          <a:p>
            <a:pPr>
              <a:spcAft>
                <a:spcPts val="400"/>
              </a:spcAft>
              <a:defRPr sz="1000" b="1">
                <a:solidFill>
                  <a:srgbClr val="0F172A"/>
                </a:solidFill>
                <a:latin typeface="Segoe UI"/>
              </a:defRPr>
            </a:pPr>
            <a:r>
              <a:t>PLATFORM LAUNCH</a:t>
            </a:r>
          </a:p>
          <a:p>
            <a:pPr>
              <a:defRPr sz="850">
                <a:solidFill>
                  <a:srgbClr val="475569"/>
                </a:solidFill>
                <a:latin typeface="Segoe UI"/>
              </a:defRPr>
            </a:pPr>
            <a:r>
              <a:t>Interactive demonstration ready to begin</a:t>
            </a:r>
          </a:p>
        </p:txBody>
      </p:sp>
      <p:sp>
        <p:nvSpPr>
          <p:cNvPr id="15" name="Rounded Rectangle 14"/>
          <p:cNvSpPr/>
          <p:nvPr/>
        </p:nvSpPr>
        <p:spPr>
          <a:xfrm>
            <a:off x="8988552" y="3931920"/>
            <a:ext cx="2468880" cy="5486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