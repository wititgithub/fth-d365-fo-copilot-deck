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【English Executive Host Script - Slide 1: Welcome &amp; Visionary Opening】</a:t>
            </a:r>
          </a:p>
          <a:p/>
          <a:p>
            <a:r>
              <a:t>"Good morning and welcome, esteemed executives, colleagues, and distinguished guests. Welcome to this strategic executive briefing from Fujitsu Thailand (FTH) on 'Empowering Enterprise ERP with Microsoft Copilot AI'.</a:t>
            </a:r>
          </a:p>
          <a:p/>
          <a:p>
            <a:r>
              <a:t>Today, we are thrilled to present our vision for advancing Microsoft Dynamics 365 Finance &amp; Operations by natively infusing Microsoft Copilot Studio and Azure AI into everyday financial and Thai tax compliance workflows.</a:t>
            </a:r>
          </a:p>
          <a:p/>
          <a:p>
            <a:r>
              <a:t>Our purpose today is not merely introducing new AI features, but creating high-value Strategic Intellectual Property (IP) for FTH—strengthening our market position as Thailand's most trusted partner in enterprise digital transformation."</a:t>
            </a:r>
          </a:p>
          <a:p/>
          <a:p>
            <a:r>
              <a:t>----------------------------------------------------------------------</a:t>
            </a:r>
          </a:p>
          <a:p>
            <a:r>
              <a:t>【บทพูดภาษาไทยสำหรับพิธีกร - สไลด์ที่ 1: ต้อนรับผู้บริหารและเกริ่นนำวิสัยทัศน์】</a:t>
            </a:r>
          </a:p>
          <a:p/>
          <a:p>
            <a:r>
              <a:t>"กราบเรียนท่านผู้บริหาร คณะทำงาน และแขกผู้มีเกียรติทุกท่านครับ ผมขอต้อนรับทุกท่านเข้าสู่การนำเสนอเชิงกลยุทธ์ ของ ฟูจิตสึ ประเทศไทย (FTH) ในหัวข้อ 'Empowering Enterprise ERP with Microsoft Copilot AI' ครับ</a:t>
            </a:r>
          </a:p>
          <a:p/>
          <a:p>
            <a:r>
              <a:t>ในวันนี้ เรามีความยินดีเป็นอย่างยิ่งที่จะแบ่งปันวิสัยทัศน์ในการยกระดับระบบ Dynamics 365 Finance &amp; Operations โดยการนำเทคโนโลยีปัญญาประดิษฐ์ระดับองค์กรอย่าง Microsoft Copilot Studio และ Azure AI เข้ามาเสริมความแข็งแกร่ง ให้กับกระบวนการบัญชีและการเงินของไทย</a:t>
            </a:r>
          </a:p>
          <a:p/>
          <a:p>
            <a:r>
              <a:t>เป้าหมายสำคัญของเราในวันนี้ ไม่ใช่เพียงการแนะนำเทคโนโลยีใหม่ แต่เป็นการสร้าง New Strategic Asset และเพิ่มมูลค่าการแข่งขัน ให้กับ FTH ในฐานะผู้นำโซลูชันด้านดิจิทัลทรานส์ฟอร์เมชันที่ได้รับความไว้วางใจสูงสุดในประเทศไทยครับ"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【English Executive Host Script - Slide 2: Industry Shift &amp; Local Challenges】</a:t>
            </a:r>
          </a:p>
          <a:p/>
          <a:p>
            <a:r>
              <a:t>"Distinguished guests, looking at day-to-day operations across Thailand, traditional ERP systems have served effectively as Systems of Record. However, the true operational bottleneck lies within Accounts Payable—where finance teams spend over 70% of their time manually reviewing hundreds of PDF tax invoices.</a:t>
            </a:r>
          </a:p>
          <a:p/>
          <a:p>
            <a:r>
              <a:t>From verifying 13-digit Tax IDs and 5-digit branch codes to 3-way matching and withholding tax calculations, manual workloads create severe month-end crunches. Coupled with the Revenue Department's aggressive push toward e-Tax Invoice and e-Receipt mandates, a single clerical oversight risks delayed filings and compliance penalties.</a:t>
            </a:r>
          </a:p>
          <a:p/>
          <a:p>
            <a:r>
              <a:t>This is precisely why Fujitsu sees an unprecedented opportunity to elevate D365 into a 'System of Intelligence'—automating repetitive burdens and equipping our finance professionals with predictive, pre-validated intelligence."</a:t>
            </a:r>
          </a:p>
          <a:p/>
          <a:p>
            <a:r>
              <a:t>----------------------------------------------------------------------</a:t>
            </a:r>
          </a:p>
          <a:p>
            <a:r>
              <a:t>【บทพูดภาษาไทยสำหรับพิธีกร - สไลด์ที่ 2: ชี้ให้เห็นความท้าทายและโอกาส】</a:t>
            </a:r>
          </a:p>
          <a:p/>
          <a:p>
            <a:r>
              <a:t>"ทุกท่านครับ เมื่อมองย้อนกลับมาที่การดำเนินงานจริงในปัจจุบัน ระบบ ERP แบบดั้งเดิมทำหน้าที่บันทึกประวัติ หรือ System of Record ได้ดี แต่ปัญหาคอขวดที่แท้จริงขององค์กรธุรกิจในประเทศไทย คือภาระงานของทีมบัญชี (AP) ที่ต้องตรวจสอบเอกสารใบกำกับภาษี PDF จำนวนหลายร้อยหลายพันใบในแต่ละเดือน</a:t>
            </a:r>
          </a:p>
          <a:p/>
          <a:p>
            <a:r>
              <a:t>ทั้งการตรวจสอบเลขประจำตัวผู้เสียภาษี 13 หลัก, สาขา 5 หลัก, การจับคู่ 3-Way Matching, และการคำนวณภาษีหัก ณ ที่จ่าย ประกอบกับนโยบายของกรมสรรพากรที่กำลังขับเคลื่อนสู่ e-Tax Invoice อย่างเต็มรูปแบบ ความผิดพลาดแม้เพียงเล็กน้อย ย่อมหมายถึงความล่าช้าและผลกระทบทางภาษี</a:t>
            </a:r>
          </a:p>
          <a:p/>
          <a:p>
            <a:r>
              <a:t>นี่คือสาเหตุที่ ฟูจิตสึ เล็งเห็นโอกาสครั้งสำคัญ ในการเปลี่ยนผ่าน D365 ให้กลายเป็น 'System of Intelligence' เพื่อช่วยแบ่งเบาภาระงานซ้ำซ้อน และเพิ่มความแม่นยำให้กับการเงินขององค์กรครับ"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【English Executive Host Script - Slide 3: Product Excellence &amp; Fujitsu Value】</a:t>
            </a:r>
          </a:p>
          <a:p/>
          <a:p>
            <a:r>
              <a:t>"From a strategic value and ROI perspective, this initiative drives dual impact:</a:t>
            </a:r>
          </a:p>
          <a:p/>
          <a:p>
            <a:r>
              <a:t>First, Product Excellence for Dynamics 365: By natively embedding Copilot Studio and Azure AI via Dataverse, enterprise data remains 100% secure within company boundaries. AI extracts, cross-checks against Thai tax laws, and prepares draft vendor invoices—reducing cycle time by over 70%, while strictly maintaining Human-in-the-Loop governance so that finance professionals retain full approval authority before any journal posting.</a:t>
            </a:r>
          </a:p>
          <a:p/>
          <a:p>
            <a:r>
              <a:t>Second, Unmatched Business Value for Fujitsu Thailand: FTH establishes a distinctive first-mover advantage by offering a pre-packaged, AI-infused Thai Localization solution. This high-margin, reusable IP enables our sales and consulting teams to scale rapidly across Japanese multinationals (MNCs) and top-tier Thai conglomerates—reinforcing Fujitsu’s global reputation for quality, governance, and trust."</a:t>
            </a:r>
          </a:p>
          <a:p/>
          <a:p>
            <a:r>
              <a:t>----------------------------------------------------------------------</a:t>
            </a:r>
          </a:p>
          <a:p>
            <a:r>
              <a:t>【บทพูดภาษาไทยสำหรับพิธีกร - สไลด์ที่ 3: เสริมแกร่งผลิตภัณฑ์และคุณค่าของ FTH】</a:t>
            </a:r>
          </a:p>
          <a:p/>
          <a:p>
            <a:r>
              <a:t>"ในแง่ของความคุ้มค่าและผลประโยชน์เชิงกลยุทธ์ โครงการนี้ได้สร้างคุณค่าสองด้านพร้อมกันครับ</a:t>
            </a:r>
          </a:p>
          <a:p/>
          <a:p>
            <a:r>
              <a:t>ด้านแรก คือความแข็งแกร่งของผลิตภัณฑ์ Dynamics 365 ที่ได้รับการอัปเกรดให้มี AI ทำงานอยู่เบื้องหลังอย่างแท้จริง ช่วยเตรียมเอกสารร่าง ตรวจสอบกฎหมายภาษีไทย และคงมาตรฐานความปลอดภัยระดับสูงสุด โดยไม่ปล่อยให้ AI โพสต์ข้อมูลโดยพลการ</a:t>
            </a:r>
          </a:p>
          <a:p/>
          <a:p>
            <a:r>
              <a:t>และด้านที่สอง ซึ่งสำคัญยิ่งต่อ ฟูจิตสึ ประเทศไทย คือการสร้าง 'ความแตกต่างที่เหนือกว่า' ในตลาด ERP เราจะไม่ได้เป็นเพียงผู้ Implement ระบบตามคู่มือทั่วไป แต่เราจะเป็นเจ้าของ Intellectual Property หรือทรัพย์สินทางปัญญา ที่ตอบโจทย์ภาษีไทยด้วย AI ซึ่งสร้าง Margin ที่สูงขึ้น เปิดประตูสู่กลุ่มลูกค้าบริษัทข้ามชาติทั้งญี่ปุ่นและไทย และตอกย้ำภาพลักษณ์ของ Fujitsu ในฐานะผู้นำด้านนวัตกรรมองค์กรครับ"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【English Executive Host Script - Slide 4: Agenda &amp; Live Demonstration Handover】</a:t>
            </a:r>
          </a:p>
          <a:p/>
          <a:p>
            <a:r>
              <a:t>"Looking ahead to today’s session, we have prepared a comprehensive 12-slide Live Interactive Solution Pitch that demonstrates the actual production-ready capabilities:</a:t>
            </a:r>
          </a:p>
          <a:p/>
          <a:p>
            <a:r>
              <a:t>We will walk through the official Microsoft Copilot Studio multi-agent architecture, explore our top five Thai localization use cases—from AP Invoice Intelligence to Continuous Reconciliation—and outline our practical 8-week POC delivery roadmap.</a:t>
            </a:r>
          </a:p>
          <a:p/>
          <a:p>
            <a:r>
              <a:t>Without further ado, I would now like to invite our executive team to transition directly into the live interactive platform to experience the future of Dynamics 365 and Copilot AI firsthand. Let us begin."</a:t>
            </a:r>
          </a:p>
          <a:p/>
          <a:p>
            <a:r>
              <a:t>----------------------------------------------------------------------</a:t>
            </a:r>
          </a:p>
          <a:p>
            <a:r>
              <a:t>【บทพูดภาษาไทยสำหรับพิธีกร - สไลด์ที่ 4: สรุปหัวข้อและส่งต่อเข้าสู่ Live Interactive Deck】</a:t>
            </a:r>
          </a:p>
          <a:p/>
          <a:p>
            <a:r>
              <a:t>"และในลำดับถัดไป เพื่อให้ทุกท่านได้เห็นภาพการทำงานจริงอย่างเป็นรูปธรรม ทางทีมงานได้จัดเตรียม แพลตฟอร์มการนำเสนอแบบ Interactive Pitch Deck จำนวน 12 สไลด์ ที่จำลองการทำงานจริงอย่างละเอียด</a:t>
            </a:r>
          </a:p>
          <a:p/>
          <a:p>
            <a:r>
              <a:t>โดยประกอบด้วยสถาปัตยกรรมทางเทคนิค, 5 Use Cases หลักที่ออกแบบมาเพื่อภาษีไทยโดยเฉพาะ, และแผนการดำเนินงาน POC 8 สัปดาห์ พร้อมเสียงบรรยายจำลองแบบ Dual-Host ที่ปรับแต่งมาอย่างเป็นทางการ</a:t>
            </a:r>
          </a:p>
          <a:p/>
          <a:p>
            <a:r>
              <a:t>บัดนี้ ผมขออนุญาตนำพาทุกท่านเข้าสู่ระบบจำลองผ่านลิงก์โครงการ เพื่อร่วมทดสอบและสัมผัสประสบการณ์แห่งอนาคต ของ Dynamics 365 และ Copilot AI ไปพร้อมกันได้ ณ บัดนี้ครับ ขอเรียนเชิญทุกท่านครับ"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ujitsu_wordmark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65760"/>
            <a:ext cx="1280160" cy="676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20040"/>
            <a:ext cx="9326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DC2626"/>
                </a:solidFill>
                <a:latin typeface="Segoe UI"/>
              </a:defRPr>
            </a:pPr>
            <a:r>
              <a:t>FUJITSU THAILAND (FTH) • STRATEGIC KEYNOTE</a:t>
            </a:r>
          </a:p>
          <a:p>
            <a:pPr>
              <a:spcAft>
                <a:spcPts val="3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Empowering Enterprise ERP with Microsoft Copilot AI</a:t>
            </a:r>
          </a:p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Advancing Dynamics 365 Finance &amp; Operations into Autonomous AI &amp; Unlocking Strategic Value for Fujitsu Thailand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Segoe UI"/>
              </a:defRPr>
            </a:pPr>
            <a:r>
              <a:t>FUJITSU THAILAND (FTH) • DYNAMICS 365 &amp; COPILOT AI EXECUTIVE KEYNOTE • SLIDE 1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328416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200"/>
              </a:spcAft>
              <a:defRPr sz="1400" b="1">
                <a:solidFill>
                  <a:srgbClr val="0284C7"/>
                </a:solidFill>
                <a:latin typeface="Segoe UI"/>
              </a:defRPr>
            </a:pPr>
            <a:r>
              <a:t>⚡ 1. Autonomous ERP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Speed &amp; Precision: </a:t>
            </a:r>
            <a:r>
              <a:rPr sz="1000" b="0">
                <a:solidFill>
                  <a:srgbClr val="334155"/>
                </a:solidFill>
                <a:latin typeface="Segoe UI"/>
              </a:rPr>
              <a:t>Transforming manual accounting workflows into an intelligent system that reads, verifies, and pre-drafts invoices.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Seamless Dynamics 365: </a:t>
            </a:r>
            <a:r>
              <a:rPr sz="1000" b="0">
                <a:solidFill>
                  <a:srgbClr val="334155"/>
                </a:solidFill>
                <a:latin typeface="Segoe UI"/>
              </a:rPr>
              <a:t>Direct native fusion between Copilot Studio, Azure AI, and D365 F&amp;O via Dataverse.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Labor Savings: </a:t>
            </a:r>
            <a:r>
              <a:rPr sz="1000" b="0">
                <a:solidFill>
                  <a:srgbClr val="334155"/>
                </a:solidFill>
                <a:latin typeface="Segoe UI"/>
              </a:rPr>
              <a:t>Slashes repetitive Accounts Payable cycle time by over 70%, freeing teams for strategic finance.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91640"/>
            <a:ext cx="3328416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200"/>
              </a:spcAft>
              <a:defRPr sz="1400" b="1">
                <a:solidFill>
                  <a:srgbClr val="7C3AED"/>
                </a:solidFill>
                <a:latin typeface="Segoe UI"/>
              </a:defRPr>
            </a:pPr>
            <a:r>
              <a:t>🏛️ 2. Thai Tax Compliance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100% Tax Alignment: </a:t>
            </a:r>
            <a:r>
              <a:rPr sz="1000" b="0">
                <a:solidFill>
                  <a:srgbClr val="334155"/>
                </a:solidFill>
                <a:latin typeface="Segoe UI"/>
              </a:rPr>
              <a:t>Built for Revenue Department standards: PP.30 VAT 7%, PND 3/53, and 50 Tawi certificates.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e-Tax Pre-Validation: </a:t>
            </a:r>
            <a:r>
              <a:rPr sz="1000" b="0">
                <a:solidFill>
                  <a:srgbClr val="334155"/>
                </a:solidFill>
                <a:latin typeface="Segoe UI"/>
              </a:rPr>
              <a:t>Automatic gate checking 13-digit Tax IDs and 5-digit branch codes before XML generation.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Continuous Subledger Audit: </a:t>
            </a:r>
            <a:r>
              <a:rPr sz="1000" b="0">
                <a:solidFill>
                  <a:srgbClr val="334155"/>
                </a:solidFill>
                <a:latin typeface="Segoe UI"/>
              </a:rPr>
              <a:t>Monitors GL against AP/AR/Tax continuously, preventing month-end tax filing panic.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691640"/>
            <a:ext cx="3328416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200"/>
              </a:spcAft>
              <a:defRPr sz="1400" b="1">
                <a:solidFill>
                  <a:srgbClr val="DC2626"/>
                </a:solidFill>
                <a:latin typeface="Segoe UI"/>
              </a:defRPr>
            </a:pPr>
            <a:r>
              <a:t>🏆 3. Value for Fujitsu (FTH)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Proprietary IP Leadership: </a:t>
            </a:r>
            <a:r>
              <a:rPr sz="1000" b="0">
                <a:solidFill>
                  <a:srgbClr val="334155"/>
                </a:solidFill>
                <a:latin typeface="Segoe UI"/>
              </a:rPr>
              <a:t>FTH owns a distinctive, repeatable AI-infused Thai Localization package in Thailand.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High-Margin Reusability: </a:t>
            </a:r>
            <a:r>
              <a:rPr sz="1000" b="0">
                <a:solidFill>
                  <a:srgbClr val="334155"/>
                </a:solidFill>
                <a:latin typeface="Segoe UI"/>
              </a:rPr>
              <a:t>Packaged solution scales across Japanese MNCs and major Thai corporate clients.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Trusted Global Partner: </a:t>
            </a:r>
            <a:r>
              <a:rPr sz="1000" b="0">
                <a:solidFill>
                  <a:srgbClr val="334155"/>
                </a:solidFill>
                <a:latin typeface="Segoe UI"/>
              </a:rPr>
              <a:t>Combines Fujitsu’s Japanese quality and governance with Microsoft’s premier enterprise AI.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ujitsu_wordmark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65760"/>
            <a:ext cx="1280160" cy="676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20040"/>
            <a:ext cx="9326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DC2626"/>
                </a:solidFill>
                <a:latin typeface="Segoe UI"/>
              </a:defRPr>
            </a:pPr>
            <a:r>
              <a:t>MARKET DRIVERS &amp; BUSINESS CHALLENGES</a:t>
            </a:r>
          </a:p>
          <a:p>
            <a:pPr>
              <a:spcAft>
                <a:spcPts val="3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The Paradigm Shift: From System of Record to System of Intelligence</a:t>
            </a:r>
          </a:p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Navigating Thai financial and tax complexities, and unlocking Fujitsu’s breakthrough opportunity.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Segoe UI"/>
              </a:defRPr>
            </a:pPr>
            <a:r>
              <a:t>FUJITSU THAILAND (FTH) • DYNAMICS 365 &amp; COPILOT AI EXECUTIVE KEYNOTE • SLIDE 2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328416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200"/>
              </a:spcAft>
              <a:defRPr sz="1400" b="1">
                <a:solidFill>
                  <a:srgbClr val="DC2626"/>
                </a:solidFill>
                <a:latin typeface="Segoe UI"/>
              </a:defRPr>
            </a:pPr>
            <a:r>
              <a:t>⚠️ Traditional ERP Limits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Manual Overload: </a:t>
            </a:r>
            <a:r>
              <a:rPr sz="1000" b="0">
                <a:solidFill>
                  <a:srgbClr val="334155"/>
                </a:solidFill>
                <a:latin typeface="Segoe UI"/>
              </a:rPr>
              <a:t>AP teams spend &gt;70% of time verifying PDF invoices, receipts, and line items manually.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Human Error Risks: </a:t>
            </a:r>
            <a:r>
              <a:rPr sz="1000" b="0">
                <a:solidFill>
                  <a:srgbClr val="334155"/>
                </a:solidFill>
                <a:latin typeface="Segoe UI"/>
              </a:rPr>
              <a:t>Typos in 13-digit Tax IDs or 5-digit branch codes trigger tax discrepancies.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Closing Delays: </a:t>
            </a:r>
            <a:r>
              <a:rPr sz="1000" b="0">
                <a:solidFill>
                  <a:srgbClr val="334155"/>
                </a:solidFill>
                <a:latin typeface="Segoe UI"/>
              </a:rPr>
              <a:t>Month-end crunch delays PP.30 submissions and obscures real-time cash visibility.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91640"/>
            <a:ext cx="3328416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200"/>
              </a:spcAft>
              <a:defRPr sz="1400" b="1">
                <a:solidFill>
                  <a:srgbClr val="7C3AED"/>
                </a:solidFill>
                <a:latin typeface="Segoe UI"/>
              </a:defRPr>
            </a:pPr>
            <a:r>
              <a:t>🏛️ Strict Thai Mandates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e-Tax Enforcement: </a:t>
            </a:r>
            <a:r>
              <a:rPr sz="1000" b="0">
                <a:solidFill>
                  <a:srgbClr val="334155"/>
                </a:solidFill>
                <a:latin typeface="Segoe UI"/>
              </a:rPr>
              <a:t>Revenue Dept requires strict XML schemas and 100% pre-validation before submission.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Complex WHT Rules: </a:t>
            </a:r>
            <a:r>
              <a:rPr sz="1000" b="0">
                <a:solidFill>
                  <a:srgbClr val="334155"/>
                </a:solidFill>
                <a:latin typeface="Segoe UI"/>
              </a:rPr>
              <a:t>Variable 1%, 2%, 3%, 5% rates require exact categorization based on service nature.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Penalty Exposure: </a:t>
            </a:r>
            <a:r>
              <a:rPr sz="1000" b="0">
                <a:solidFill>
                  <a:srgbClr val="334155"/>
                </a:solidFill>
                <a:latin typeface="Segoe UI"/>
              </a:rPr>
              <a:t>Late or erroneous filings result in unnecessary surcharges and audit friction.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691640"/>
            <a:ext cx="3328416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200"/>
              </a:spcAft>
              <a:defRPr sz="1400" b="1">
                <a:solidFill>
                  <a:srgbClr val="0284C7"/>
                </a:solidFill>
                <a:latin typeface="Segoe UI"/>
              </a:defRPr>
            </a:pPr>
            <a:r>
              <a:t>🚀 Fujitsu's Opportunity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System of Intelligence: </a:t>
            </a:r>
            <a:r>
              <a:rPr sz="1000" b="0">
                <a:solidFill>
                  <a:srgbClr val="334155"/>
                </a:solidFill>
                <a:latin typeface="Segoe UI"/>
              </a:rPr>
              <a:t>Elevating D365 to analyze, pre-validate, and predict issues before transactions post.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Human-in-the-Loop: </a:t>
            </a:r>
            <a:r>
              <a:rPr sz="1000" b="0">
                <a:solidFill>
                  <a:srgbClr val="334155"/>
                </a:solidFill>
                <a:latin typeface="Segoe UI"/>
              </a:rPr>
              <a:t>AI prepares validated drafts; accountants retain full approval authority.</a:t>
            </a:r>
          </a:p>
          <a:p>
            <a:pPr>
              <a:spcAft>
                <a:spcPts val="8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• Market Leadership: </a:t>
            </a:r>
            <a:r>
              <a:rPr sz="1000" b="0">
                <a:solidFill>
                  <a:srgbClr val="334155"/>
                </a:solidFill>
                <a:latin typeface="Segoe UI"/>
              </a:rPr>
              <a:t>FTH delivers modern AI innovation that traditional competitors in Thailand cannot match.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ujitsu_wordmark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65760"/>
            <a:ext cx="1280160" cy="676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20040"/>
            <a:ext cx="9326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DC2626"/>
                </a:solidFill>
                <a:latin typeface="Segoe UI"/>
              </a:defRPr>
            </a:pPr>
            <a:r>
              <a:t>PRODUCT EXCELLENCE &amp; STRATEGIC VALUE</a:t>
            </a:r>
          </a:p>
          <a:p>
            <a:pPr>
              <a:spcAft>
                <a:spcPts val="3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Strengthening Dynamics 365 &amp; Maximizing Fujitsu (FTH) Value</a:t>
            </a:r>
          </a:p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A strategic technology fusion that drives mutual ROI for our clients and Fujitsu Thailand.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Segoe UI"/>
              </a:defRPr>
            </a:pPr>
            <a:r>
              <a:t>FUJITSU THAILAND (FTH) • DYNAMICS 365 &amp; COPILOT AI EXECUTIVE KEYNOTE • SLIDE 3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75504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sz="1500" b="1">
                <a:solidFill>
                  <a:srgbClr val="0284C7"/>
                </a:solidFill>
                <a:latin typeface="Segoe UI"/>
              </a:defRPr>
            </a:pPr>
            <a:r>
              <a:t>💎 1. D365 Product Enhancement</a:t>
            </a:r>
          </a:p>
          <a:p>
            <a:pPr>
              <a:spcAft>
                <a:spcPts val="7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Native Copilot Fusion: </a:t>
            </a:r>
            <a:r>
              <a:rPr sz="1000" b="0">
                <a:solidFill>
                  <a:srgbClr val="334155"/>
                </a:solidFill>
                <a:latin typeface="Segoe UI"/>
              </a:rPr>
              <a:t>Direct integration with Copilot Studio and Azure AI via Dataverse and standard APIs—zero external data leakage.</a:t>
            </a:r>
          </a:p>
          <a:p>
            <a:pPr>
              <a:spcAft>
                <a:spcPts val="7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Autonomous Draft Preparation: </a:t>
            </a:r>
            <a:r>
              <a:rPr sz="1000" b="0">
                <a:solidFill>
                  <a:srgbClr val="334155"/>
                </a:solidFill>
                <a:latin typeface="Segoe UI"/>
              </a:rPr>
              <a:t>AI reads documents, validates 3-way matching rules, and creates draft vendor invoices—slashing AP review time by &gt;70%.</a:t>
            </a:r>
          </a:p>
          <a:p>
            <a:pPr>
              <a:spcAft>
                <a:spcPts val="7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Strict Human-in-the-Loop: </a:t>
            </a:r>
            <a:r>
              <a:rPr sz="1000" b="0">
                <a:solidFill>
                  <a:srgbClr val="334155"/>
                </a:solidFill>
                <a:latin typeface="Segoe UI"/>
              </a:rPr>
              <a:t>AI prepares validated drafts; accountants retain exclusive approval authority before any journal posting.</a:t>
            </a:r>
          </a:p>
          <a:p>
            <a:pPr>
              <a:spcAft>
                <a:spcPts val="7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Total Thai Tax Compliance: </a:t>
            </a:r>
            <a:r>
              <a:rPr sz="1000" b="0">
                <a:solidFill>
                  <a:srgbClr val="334155"/>
                </a:solidFill>
                <a:latin typeface="Segoe UI"/>
              </a:rPr>
              <a:t>Full support for PP.30, PND 3/53, 50 Tawi certificates, and Revenue Dept e-Tax XML formats.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691640"/>
            <a:ext cx="5175504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sz="1500" b="1">
                <a:solidFill>
                  <a:srgbClr val="DC2626"/>
                </a:solidFill>
                <a:latin typeface="Segoe UI"/>
              </a:defRPr>
            </a:pPr>
            <a:r>
              <a:t>🏆 2. Fujitsu (FTH) Strategic Value</a:t>
            </a:r>
          </a:p>
          <a:p>
            <a:pPr>
              <a:spcAft>
                <a:spcPts val="7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First-Mover Advantage in Thailand: </a:t>
            </a:r>
            <a:r>
              <a:rPr sz="1000" b="0">
                <a:solidFill>
                  <a:srgbClr val="334155"/>
                </a:solidFill>
                <a:latin typeface="Segoe UI"/>
              </a:rPr>
              <a:t>FTH becomes the first partner offering a pre-packaged, AI-infused Thai Localization solution, creating a strong moat.</a:t>
            </a:r>
          </a:p>
          <a:p>
            <a:pPr>
              <a:spcAft>
                <a:spcPts val="7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High-Margin Reusable IP Asset: </a:t>
            </a:r>
            <a:r>
              <a:rPr sz="1000" b="0">
                <a:solidFill>
                  <a:srgbClr val="334155"/>
                </a:solidFill>
                <a:latin typeface="Segoe UI"/>
              </a:rPr>
              <a:t>Packaged as commercial IP, enabling rapid deployment across enterprise clients with lower implementation costs.</a:t>
            </a:r>
          </a:p>
          <a:p>
            <a:pPr>
              <a:spcAft>
                <a:spcPts val="7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Expands Japanese MNC &amp; Enterprise Footprint: </a:t>
            </a:r>
            <a:r>
              <a:rPr sz="1000" b="0">
                <a:solidFill>
                  <a:srgbClr val="334155"/>
                </a:solidFill>
                <a:latin typeface="Segoe UI"/>
              </a:rPr>
              <a:t>Tailored to Japanese MNCs and major Thai conglomerates seeking modern, compliant ERP modernization.</a:t>
            </a:r>
          </a:p>
          <a:p>
            <a:pPr>
              <a:spcAft>
                <a:spcPts val="7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Reinforces Global Trusted Partner Brand: </a:t>
            </a:r>
            <a:r>
              <a:rPr sz="1000" b="0">
                <a:solidFill>
                  <a:srgbClr val="334155"/>
                </a:solidFill>
                <a:latin typeface="Segoe UI"/>
              </a:rPr>
              <a:t>Combines Fujitsu’s renowned Japanese quality and governance standards with Microsoft’s premier AI technology.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ujitsu_wordmark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365760"/>
            <a:ext cx="1280160" cy="676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20040"/>
            <a:ext cx="93268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DC2626"/>
                </a:solidFill>
                <a:latin typeface="Segoe UI"/>
              </a:defRPr>
            </a:pPr>
            <a:r>
              <a:t>SOLUTION ROADMAP &amp; LIVE DEMONSTRATION</a:t>
            </a:r>
          </a:p>
          <a:p>
            <a:pPr>
              <a:spcAft>
                <a:spcPts val="300"/>
              </a:spcAft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Executive Agenda &amp; Transition to Live Solution Pitch</a:t>
            </a:r>
          </a:p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Today’s 12-slide walkthrough and formal handover into the live interactive demonstration platform.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Segoe UI"/>
              </a:defRPr>
            </a:pPr>
            <a:r>
              <a:t>FUJITSU THAILAND (FTH) • DYNAMICS 365 &amp; COPILOT AI EXECUTIVE KEYNOTE • SLIDE 4 OF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6217920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sz="1500" b="1">
                <a:solidFill>
                  <a:srgbClr val="0284C7"/>
                </a:solidFill>
                <a:latin typeface="Segoe UI"/>
              </a:defRPr>
            </a:pPr>
            <a:r>
              <a:t>📑 Key Milestones in Live Interactive Pitch (12 Slides)</a:t>
            </a:r>
          </a:p>
          <a:p>
            <a:pPr>
              <a:spcAft>
                <a:spcPts val="8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1. Official Architecture: </a:t>
            </a:r>
            <a:r>
              <a:rPr sz="1000" b="0">
                <a:solidFill>
                  <a:srgbClr val="334155"/>
                </a:solidFill>
                <a:latin typeface="Segoe UI"/>
              </a:rPr>
              <a:t>Multi-Agent Framework and 100% secure enterprise integration with D365 via Dataverse.</a:t>
            </a:r>
          </a:p>
          <a:p>
            <a:pPr>
              <a:spcAft>
                <a:spcPts val="8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2. Top 5 Thai Use Cases: </a:t>
            </a:r>
            <a:r>
              <a:rPr sz="1000" b="0">
                <a:solidFill>
                  <a:srgbClr val="334155"/>
                </a:solidFill>
                <a:latin typeface="Segoe UI"/>
              </a:rPr>
              <a:t>Live walkthrough: AP Invoice Intelligence, Thai Tax Copilot, e-Tax Gateway, and Continuous Reconciliation.</a:t>
            </a:r>
          </a:p>
          <a:p>
            <a:pPr>
              <a:spcAft>
                <a:spcPts val="8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3. 8-Week POC Delivery Plan: </a:t>
            </a:r>
            <a:r>
              <a:rPr sz="1000" b="0">
                <a:solidFill>
                  <a:srgbClr val="334155"/>
                </a:solidFill>
                <a:latin typeface="Segoe UI"/>
              </a:rPr>
              <a:t>Pragmatic, low-risk deployment roadmap delivering fast measurable value and fast payback.</a:t>
            </a:r>
          </a:p>
          <a:p>
            <a:pPr>
              <a:spcAft>
                <a:spcPts val="8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• 4. Dual-Host AI Narration: </a:t>
            </a:r>
            <a:r>
              <a:rPr sz="1000" b="0">
                <a:solidFill>
                  <a:srgbClr val="334155"/>
                </a:solidFill>
                <a:latin typeface="Segoe UI"/>
              </a:rPr>
              <a:t>Production neural studio voice in English &amp; Thai with automated auto-tour mode.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691640"/>
            <a:ext cx="4144975" cy="4434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sz="1400" b="1">
                <a:solidFill>
                  <a:srgbClr val="059669"/>
                </a:solidFill>
                <a:latin typeface="Segoe UI"/>
              </a:defRPr>
            </a:pPr>
            <a:r>
              <a:t>🚀 Ready for Live Demonstration</a:t>
            </a:r>
          </a:p>
          <a:p>
            <a:pPr>
              <a:spcAft>
                <a:spcPts val="1600"/>
              </a:spcAft>
              <a:defRPr sz="1100" i="1">
                <a:solidFill>
                  <a:srgbClr val="334155"/>
                </a:solidFill>
                <a:latin typeface="Segoe UI"/>
              </a:defRPr>
            </a:pPr>
            <a:r>
              <a:t>"Without further ado, let us now transition directly into the live interactive platform to experience the future of D365 and Copilot AI firsthand..."</a:t>
            </a:r>
          </a:p>
          <a:p>
            <a:pPr>
              <a:spcAft>
                <a:spcPts val="400"/>
              </a:spcAft>
              <a:defRPr sz="1050" b="1">
                <a:solidFill>
                  <a:srgbClr val="0F172A"/>
                </a:solidFill>
                <a:latin typeface="Segoe UI"/>
              </a:defRPr>
            </a:pPr>
            <a:r>
              <a:t>🌐 Direct Platform Link (GitHub Pages):</a:t>
            </a:r>
          </a:p>
          <a:p>
            <a:pPr>
              <a:spcAft>
                <a:spcPts val="14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https://wititgithub.github.io/fth-d365-fo-copilot-deck/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💡 Host Guidance:</a:t>
            </a:r>
            <a:br/>
            <a:r>
              <a:t>Click the live link or switch to the browser window to start the 12-slide interactive tour.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