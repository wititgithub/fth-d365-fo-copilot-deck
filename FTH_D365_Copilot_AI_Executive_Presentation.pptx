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[บทพูดภาษาไทย - Slide 1 (~45-50 วินาที)]</a:t>
            </a:r>
          </a:p>
          <a:p>
            <a:r>
              <a:t>สวัสดีท่านผู้บริหารทุกท่านครับ วันนี้ผมขออนุญาตนำเสนอวิสัยทัศน์ที่จะเปลี่ยนวิธีที่องค์กรของเราขับเคลื่อนธุรกิจด้วย Microsoft Dynamics 365 และ Copilot AI... ตลอดหลายปีที่ผ่านมา ERP คือหัวใจในการบันทึกข้อมูลธุรกรรม แต่ในยุคปี 2026 นี้ แค่บันทึกอย่างเดียวไม่เพียงพอแล้วครับ สิ่งที่เราต้องการคือระบบที่สามารถคิด วิเคราะห์ และช่วยทีมงานตัดสินใจเชิงรุกได้ทันทีในทุกโมดูลครับ</a:t>
            </a:r>
          </a:p>
          <a:p/>
          <a:p>
            <a:r>
              <a:t>[ENGLISH SCRIPT - Slide 1 (~45-50 seconds)]</a:t>
            </a:r>
          </a:p>
          <a:p>
            <a:r>
              <a:t>Good morning, executive leaders. Today, I am excited to share a transformative vision for how our organization can elevate Microsoft Dynamics 365 using Copilot AI. For years, ERP has served as our robust system of record. But in 2026, mere record-keeping is no longer enough. We need an intelligent, autonomous ERP that actively reasons, predicts, and empowers our teams to act proactively.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[บทพูดภาษาไทย - Slide 2 (~45-50 วินาที)]</a:t>
            </a:r>
          </a:p>
          <a:p>
            <a:r>
              <a:t>ก่อนอื่นเราต้องยอมรับความจริงข้อหนึ่งครับ... แม้ว่า Dynamics 365 จะเป็นระบบ ERP ชั้นยอด แต่ทำไมทีมบัญชี จัดซื้อ และซัพพลายเชนของเรายังต้องเสียเวลาส่วนใหญ่ไปกับ Excel และงานคีย์ข้อมูลมือ? นั่นเป็นเพราะ Standard D365 มีจุดบอด 3 ประการ: มันอ่านเอกสารที่ไม่เป็นโครงสร้างไม่ออก, มันทำงานแบบรอให้เรื่องเกิดก่อน (Reactive), และกฎหมายภาษีของไทยมีความซับซ้อนเกินกว่าระบบสำเร็จรูปจะจัดการได้อัตโนมัติครับ</a:t>
            </a:r>
          </a:p>
          <a:p/>
          <a:p>
            <a:r>
              <a:t>[ENGLISH SCRIPT - Slide 2 (~45-50 seconds)]</a:t>
            </a:r>
          </a:p>
          <a:p>
            <a:r>
              <a:t>Let's begin with an honest reality check. While Dynamics 365 is a world-class platform, why do our finance, procurement, and operations teams still spend over 60% of their time trapped in Excel and manual reconciliation? Because standard ERP has three inherent blind spots: it cannot understand unstructured documents like PDFs or emails, it only tells us what happened in the past, and complex local requirements like Thai tax reconciliation require heavy human intervention.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[บทพูดภาษาไทย - Slide 3 (~45-50 วินาที)]</a:t>
            </a:r>
          </a:p>
          <a:p>
            <a:r>
              <a:t>นี่คือจุดที่ Copilot AI เข้ามาเสริมครับ เราไม่ได้มารื้อระบบ D365 เดิม แต่เรานำเลเยอร์ปัญญาประดิษฐ์มาสวมทับบน Dataverse ที่มีอยู่เดิม โดยมีหัวใจสำคัญคือความปลอดภัยระดับ Enterprise ข้อมูลของเราจะไม่รั่วไหลออกนอก Tenant และทุกการตัดสินใจสำคัญยังคงมี 'Human-in-the-Loop' คือให้ AI เตรียมงานและวิเคราะห์ แล้วให้พนักงานเป็นผู้อนุมัติครับ</a:t>
            </a:r>
          </a:p>
          <a:p/>
          <a:p>
            <a:r>
              <a:t>[ENGLISH SCRIPT - Slide 3 (~45-50 seconds)]</a:t>
            </a:r>
          </a:p>
          <a:p>
            <a:r>
              <a:t>Here is our strategic architecture. We are not replacing or overhauling Dynamics 365; we are augmenting it with an intelligent cognitive layer powered by Azure OpenAI and Copilot Studio. Crucially for our leadership, this operates inside our isolated enterprise tenant with zero data leakage, and always maintains a Human-in-the-Loop governance model where AI assists and humans approve.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[บทพูดภาษาไทย - Slide 4 (~45-50 วินาที)]</a:t>
            </a:r>
          </a:p>
          <a:p>
            <a:r>
              <a:t>ในโมดูลการเงินครับ Pain ที่พบบ่อยที่สุดคือเมื่อใบแจ้งหนี้จากคู่ค้ามีค่าขนส่งหรือส่วนลดที่ไม่ได้ระบุใน PO ระบบ D365 มาตรฐานจะติดล็อก 3-Way Matching ทันที ต้องรอคนไปไล่ถามอีเมล... ด้วย Copilot AI ระบบจะอ่านและเข้าใจเงื่อนไข ทำการอธิบายสาเหตุเป็นภาษาไทย และร่างใบปรับปรุงบัญชีให้เสร็จสรรพ พร้อมตรวจกระทบยอด e-Tax ภาษีหัก ณ ที่จ่ายกับกรมสรรพากรแบบไร้รอยต่อครับ</a:t>
            </a:r>
          </a:p>
          <a:p/>
          <a:p>
            <a:r>
              <a:t>[ENGLISH SCRIPT - Slide 4 (~45-50 seconds)]</a:t>
            </a:r>
          </a:p>
          <a:p>
            <a:r>
              <a:t>In Finance, our biggest bottleneck is 3-way matching exceptions. When a vendor adds freight surcharges or off-invoice discounts, standard D365 simply halts processing, requiring accountants to manually chase emails. With Copilot, the AI understands the discrepancies in plain context, drafts adjustment journals, and validates Thai e-Tax and withholding tax digital signatures automatically, slashing month-end closing from five days down to four hours.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[บทพูดภาษาไทย - Slide 5 (~45-50 วินาที)]</a:t>
            </a:r>
          </a:p>
          <a:p>
            <a:r>
              <a:t>ถัดมาคือฝ่ายจัดซื้อครับ ปกติ D365 จะให้คะแนนคู่ค้าจากประวัติการส่งของในอดีตเท่านั้น ซึ่งไม่ช่วยเตือนภัยล่วงหน้าเลยครับ... Copilot จะดึงข้อมูลต้นทุนโภคภัณฑ์โลก ข่าวความเสี่ยง และผลงานในอดีตมารวมกัน เพื่อแนะนำว่าควรซื้อจากเจ้าไหนในสัดส่วนเท่าไร พร้อมสแกนเงื่อนไขสัญญาว่ามีข้อผูกมัดหรือเบี้ยปรับใดที่องค์กรเราเสียเปรียบหรือไม่ ช่วยให้เราประหยัดต้นทุนจัดซื้อได้ทันที 15% ครับ</a:t>
            </a:r>
          </a:p>
          <a:p/>
          <a:p>
            <a:r>
              <a:t>[ENGLISH SCRIPT - Slide 5 (~45-50 seconds)]</a:t>
            </a:r>
          </a:p>
          <a:p>
            <a:r>
              <a:t>In Procurement, standard D365 evaluates vendors purely on historical delivery timestamps. It cannot see impending supplier insolvency or global raw material inflation. Copilot synthesizes internal purchase history with live global commodity trends and news sentiment to recommend optimal vendor allocations. It even reviews supplier contracts to flag high-risk liability clauses and draft data-backed negotiation strategies.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[บทพูดภาษาไทย - Slide 6 (~45-50 วินาที)]</a:t>
            </a:r>
          </a:p>
          <a:p>
            <a:r>
              <a:t>ในด้านห่วงโซ่อุปทาน การคำนวณ MRP ของระบบทั่วไปไม่เคยรู้ว่าเส้นทางขนส่งทางทะเลติดขัดหรือมีพายุเข้า ทำให้เกิดปัญหาของขาดสต็อก หรือเราต้องถือสินค้าเผื่อไว้จนเงินจม... Copilot เชื่อมโยงข้อมูลโลจิสติกส์ภายนอก แจ้งเตือนความเสี่ยงล่วงหน้า 2 สัปดาห์ และเสนอทางเลือกให้โอนย้ายสินค้าระหว่างสาขาได้ทันที ทำให้เราลดมูลค่าสต็อกจมลงได้ถึง 25% ครับ</a:t>
            </a:r>
          </a:p>
          <a:p/>
          <a:p>
            <a:r>
              <a:t>[ENGLISH SCRIPT - Slide 6 (~45-50 seconds)]</a:t>
            </a:r>
          </a:p>
          <a:p>
            <a:r>
              <a:t>In Supply Chain, conventional MRP calculations are blind to external disruptions such as port congestions or adverse weather, forcing us to hold excessive safety stock. Copilot injects external logistics telemetry into D365, predicting stockout risks two weeks in advance and suggesting cross-warehouse transfers. This predictive demand sensing enables us to cut inventory carrying costs by up to 25%.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[บทพูดภาษาไทย - Slide 7 (~45-50 วินาที)]</a:t>
            </a:r>
          </a:p>
          <a:p>
            <a:r>
              <a:t>สำหรับสายการผลิตในโรงงานครับ เมื่อเครื่องจักรเกิดอาการสั่นผิดปกติหรือของเสียสูงขึ้นในกะดึก ระบบ D365 ปกติจะไม่ปรับตารางงานให้เอง... ด้วย Copilot ที่เชื่อมกับ IoT หน้างาน ระบบจะจัดลำดับคิวงานใหม่ไปยังเครื่องสำรองทันที และวินิจฉัยหาสาเหตุของเสียจากล็อตวัตถุดิบและสภาพแวดล้อมได้ภายใน 3 นาที แทนที่จะต้องรอวิศวกรสอบสวนเป็นสัปดาห์ครับ</a:t>
            </a:r>
          </a:p>
          <a:p/>
          <a:p>
            <a:r>
              <a:t>[ENGLISH SCRIPT - Slide 7 (~45-50 seconds)]</a:t>
            </a:r>
          </a:p>
          <a:p>
            <a:r>
              <a:t>On the Manufacturing shopfloor, standard production scheduling fails to dynamically adapt when machines experience telemetry anomalies or sudden defect spikes. Copilot integrates IoT sensor alerts with work orders, re-routing production to backup machines before catastrophic failure occurs, and diagnosing scrap root causes across material batches and shift conditions in minutes rather than days.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[บทพูดภาษาไทย - Slide 8 (~45-50 วินาที)]</a:t>
            </a:r>
          </a:p>
          <a:p>
            <a:r>
              <a:t>ในส่วนของการบริหารโครงการครับ ผู้บริหารมักจะทราบว่างบประมาณบานปลายก็ต่อเมื่อสิ้นเดือนไปแล้ว... Copilot จะคอยจับตาดูอัตราการใช้ชั่วโมงการทำงานเทียบกับความคืบหน้าจริง เพื่อส่งสัญญาณเตือนล่วงหน้า 4 สัปดาห์ก่อนที่กำไรจะติดลบ และยังช่วยร่างเอกสาร Change Order จากบันทึกการประชุมเพื่อเรียกเก็บเงินลูกค้าได้อย่างแม่นยำครับ</a:t>
            </a:r>
          </a:p>
          <a:p/>
          <a:p>
            <a:r>
              <a:t>[ENGLISH SCRIPT - Slide 8 (~45-50 seconds)]</a:t>
            </a:r>
          </a:p>
          <a:p>
            <a:r>
              <a:t>For Project Operations, executives typically discover budget overruns weeks after the damage is done. Copilot monitors milestone burn rates and timesheet velocity against deliverables, issuing margin erosion alerts four weeks in advance. It also converts meeting transcripts and client emails directly into formal Scope of Work change orders, safeguarding our project profitability.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[บทพูดภาษาไทย - Slide 9 (~45-50 วินาที)]</a:t>
            </a:r>
          </a:p>
          <a:p>
            <a:r>
              <a:t>หากพิจารณาด้านความคุ้มค่าในการลงทุน (ROI) ครับ การเสริมศักยภาพนี้จะช่วยคืนทุนอย่างรวดเร็ว: ปิดงวดเร็วขึ้น 70%, ประหยัดต้นทุนจัดซื้อ 15%, และลดสต็อกจม 25%... โดยเราวางแผนการทำงานเป็น 3 ระยะอย่างรัดกุม เริ่มต้นด้วย Proof of Value ใน 30 วันแรกกับงานภาษีและบัญชีเจ้าหนี้ จากนั้นจึงขยายสู่โมดูลอื่นๆ จนใช้งานได้เต็มรูปแบบภายใน 90 วันครับ</a:t>
            </a:r>
          </a:p>
          <a:p/>
          <a:p>
            <a:r>
              <a:t>[ENGLISH SCRIPT - Slide 9 (~45-50 seconds)]</a:t>
            </a:r>
          </a:p>
          <a:p>
            <a:r>
              <a:t>To summarize the business case: we are targeting hard, quantifiable returns: a 70% reduction in financial closing cycle times, a 15% procurement cost avoidance, and a 25% reduction in dead inventory. We recommend a structured 90-day roadmap, beginning with a 30-day Proof of Value focused on Accounts Payable and Thai tax automation before enterprise-wide scaling.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[บทพูดภาษาไทย - Slide 10 (~45-50 วินาที)]</a:t>
            </a:r>
          </a:p>
          <a:p>
            <a:r>
              <a:t>และในสไลด์สุดท้ายนี้ครับ สัญลักษณ์ Fujitsu Red Infinity ที่โอบล้อม Microsoft Dynamics 365 และ Copilot คือความมุ่งมั่นของ Fujitsu Thailand ในการเป็นพันธมิตรที่นำความเชี่ยวชาญระดับโลกและโซลูชันที่ตอบโจทย์ประเทศไทย มาช่วยให้องค์กรของท่านก้าวสู่การเป็น Autonomous Enterprise อย่างแท้จริง... ขอขอบคุณทุกท่าน และยินดีตอบทุกข้อซักถามครับ</a:t>
            </a:r>
          </a:p>
          <a:p/>
          <a:p>
            <a:r>
              <a:t>[ENGLISH SCRIPT - Slide 10 (~45-50 seconds)]</a:t>
            </a:r>
          </a:p>
          <a:p>
            <a:r>
              <a:t>In closing, the Fujitsu Red Infinity ribbon seamlessly uniting Microsoft Dynamics 365 and Copilot symbolizes our shared commitment to empowering your leadership. Fujitsu Thailand brings deep localization expertise, world-class enterprise delivery, and unmatched AI engineering to make your autonomous enterprise a reality. Thank you for your time, and I welcome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none">
            <a:spAutoFit/>
          </a:bodyPr>
          <a:lstStyle/>
          <a:p>
            <a:pPr>
              <a:defRPr sz="1100" b="1">
                <a:solidFill>
                  <a:srgbClr val="E60012"/>
                </a:solidFill>
              </a:defRPr>
            </a:pPr>
            <a:r>
              <a:t>FUJITSU THAILAND  //  EXECUTIVE PRESENTATION  //  SLIDE 1</a:t>
            </a:r>
          </a:p>
        </p:txBody>
      </p:sp>
      <p:sp>
        <p:nvSpPr>
          <p:cNvPr id="4" name="TextBox 3"/>
          <p:cNvSpPr txBox="1"/>
          <p:nvPr/>
        </p:nvSpPr>
        <p:spPr>
          <a:xfrm>
            <a:off x="731520" y="685800"/>
            <a:ext cx="10515600" cy="731520"/>
          </a:xfrm>
          <a:prstGeom prst="rect">
            <a:avLst/>
          </a:prstGeom>
          <a:noFill/>
        </p:spPr>
        <p:txBody>
          <a:bodyPr wrap="square">
            <a:spAutoFit/>
          </a:bodyPr>
          <a:lstStyle/>
          <a:p>
            <a:pPr>
              <a:defRPr b="1" sz="2800">
                <a:solidFill>
                  <a:srgbClr val="FFFFFF"/>
                </a:solidFill>
              </a:defRPr>
            </a:pPr>
            <a:r>
              <a:t>THE AUTONOMOUS ENTERPRISE</a:t>
            </a:r>
          </a:p>
        </p:txBody>
      </p:sp>
      <p:sp>
        <p:nvSpPr>
          <p:cNvPr id="5" name="TextBox 4"/>
          <p:cNvSpPr txBox="1"/>
          <p:nvPr/>
        </p:nvSpPr>
        <p:spPr>
          <a:xfrm>
            <a:off x="731520" y="1371600"/>
            <a:ext cx="10515600" cy="457200"/>
          </a:xfrm>
          <a:prstGeom prst="rect">
            <a:avLst/>
          </a:prstGeom>
          <a:noFill/>
        </p:spPr>
        <p:txBody>
          <a:bodyPr wrap="square">
            <a:spAutoFit/>
          </a:bodyPr>
          <a:lstStyle/>
          <a:p>
            <a:pPr>
              <a:defRPr sz="1500">
                <a:solidFill>
                  <a:srgbClr val="94A3B8"/>
                </a:solidFill>
              </a:defRPr>
            </a:pPr>
            <a:r>
              <a:t>Augmenting Microsoft Dynamics 365 with Copilot AI</a:t>
            </a:r>
          </a:p>
        </p:txBody>
      </p:sp>
      <p:sp>
        <p:nvSpPr>
          <p:cNvPr id="6" name="TextBox 5"/>
          <p:cNvSpPr txBox="1"/>
          <p:nvPr/>
        </p:nvSpPr>
        <p:spPr>
          <a:xfrm>
            <a:off x="731520" y="2194560"/>
            <a:ext cx="10515600" cy="1097280"/>
          </a:xfrm>
          <a:prstGeom prst="rect">
            <a:avLst/>
          </a:prstGeom>
          <a:noFill/>
        </p:spPr>
        <p:txBody>
          <a:bodyPr wrap="none">
            <a:spAutoFit/>
          </a:bodyPr>
          <a:lstStyle/>
          <a:p>
            <a:pPr>
              <a:defRPr sz="1800">
                <a:solidFill>
                  <a:srgbClr val="E2E8F0"/>
                </a:solidFill>
              </a:defRPr>
            </a:pPr>
            <a:r>
              <a:t>ยกระดับระบบ ERP จาก 'ระบบบันทึกข้อมูลแบบดั้งเดิม' สู่ 'ระบบอัจฉริยะที่ตัดสินใจและทำงานเชิงรุก' (System of Intelligence)</a:t>
            </a:r>
          </a:p>
        </p:txBody>
      </p:sp>
      <p:sp>
        <p:nvSpPr>
          <p:cNvPr id="7" name="TextBox 6"/>
          <p:cNvSpPr txBox="1"/>
          <p:nvPr/>
        </p:nvSpPr>
        <p:spPr>
          <a:xfrm>
            <a:off x="731520" y="5303520"/>
            <a:ext cx="10515600" cy="731520"/>
          </a:xfrm>
          <a:prstGeom prst="rect">
            <a:avLst/>
          </a:prstGeom>
          <a:noFill/>
        </p:spPr>
        <p:txBody>
          <a:bodyPr wrap="none">
            <a:spAutoFit/>
          </a:bodyPr>
          <a:lstStyle/>
          <a:p>
            <a:pPr>
              <a:defRPr sz="1200">
                <a:solidFill>
                  <a:srgbClr val="94A3B8"/>
                </a:solidFill>
              </a:defRPr>
            </a:pPr>
            <a:r>
              <a:t>Target Audience: C-Level Executives (CEO, CFO, CIO, COO)  |  Presentation Length: 8 Minutes  |  Prepared by: Fujitsu Thailand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none">
            <a:spAutoFit/>
          </a:bodyPr>
          <a:lstStyle/>
          <a:p>
            <a:pPr>
              <a:defRPr sz="1100" b="1">
                <a:solidFill>
                  <a:srgbClr val="E60012"/>
                </a:solidFill>
              </a:defRPr>
            </a:pPr>
            <a:r>
              <a:t>D365 &amp; COPILOT AI MODERNIZATION  //  SLIDE 2 OF 10</a:t>
            </a:r>
          </a:p>
        </p:txBody>
      </p:sp>
      <p:sp>
        <p:nvSpPr>
          <p:cNvPr id="4" name="TextBox 3"/>
          <p:cNvSpPr txBox="1"/>
          <p:nvPr/>
        </p:nvSpPr>
        <p:spPr>
          <a:xfrm>
            <a:off x="731520" y="685800"/>
            <a:ext cx="10515600" cy="731520"/>
          </a:xfrm>
          <a:prstGeom prst="rect">
            <a:avLst/>
          </a:prstGeom>
          <a:noFill/>
        </p:spPr>
        <p:txBody>
          <a:bodyPr wrap="square">
            <a:spAutoFit/>
          </a:bodyPr>
          <a:lstStyle/>
          <a:p>
            <a:pPr>
              <a:defRPr b="1" sz="2800">
                <a:solidFill>
                  <a:srgbClr val="0F172A"/>
                </a:solidFill>
              </a:defRPr>
            </a:pPr>
            <a:r>
              <a:t>The Enterprise Reality Gap: Where Standard D365 Stops</a:t>
            </a:r>
          </a:p>
        </p:txBody>
      </p:sp>
      <p:sp>
        <p:nvSpPr>
          <p:cNvPr id="5" name="TextBox 4"/>
          <p:cNvSpPr txBox="1"/>
          <p:nvPr/>
        </p:nvSpPr>
        <p:spPr>
          <a:xfrm>
            <a:off x="731520" y="1371600"/>
            <a:ext cx="10515600" cy="457200"/>
          </a:xfrm>
          <a:prstGeom prst="rect">
            <a:avLst/>
          </a:prstGeom>
          <a:noFill/>
        </p:spPr>
        <p:txBody>
          <a:bodyPr wrap="square">
            <a:spAutoFit/>
          </a:bodyPr>
          <a:lstStyle/>
          <a:p>
            <a:pPr>
              <a:defRPr sz="1500">
                <a:solidFill>
                  <a:srgbClr val="64748B"/>
                </a:solidFill>
              </a:defRPr>
            </a:pPr>
            <a:r>
              <a:t>ทำไม ERP ชั้นนำระดับโลก ถึงยังเหลือภาระงาน Manual ให้ทีมงานกว่า 60%?</a:t>
            </a:r>
          </a:p>
        </p:txBody>
      </p:sp>
      <p:sp>
        <p:nvSpPr>
          <p:cNvPr id="6" name="Rectangle 5"/>
          <p:cNvSpPr/>
          <p:nvPr/>
        </p:nvSpPr>
        <p:spPr>
          <a:xfrm>
            <a:off x="731520" y="2011680"/>
            <a:ext cx="3337560" cy="41148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F172A"/>
                </a:solidFill>
              </a:defRPr>
            </a:pPr>
            <a:r>
              <a:t>1. Unstructured Data Blindspot</a:t>
            </a:r>
          </a:p>
          <a:p>
            <a:pPr>
              <a:defRPr sz="1200">
                <a:solidFill>
                  <a:srgbClr val="0F172A"/>
                </a:solidFill>
              </a:defRPr>
            </a:pPr>
            <a:r>
              <a:t>Standard D365 ประมวลผลได้เฉพาะข้อมูลตาราง (SQL/Structured) แต่เอกสารจริง 80% คือ PDF ใบแจ้งหนี้, สัญญา, แชท, และอีเมล ที่ระบบอ่านไม่ออก ต้องใช้คนคีย์ซ้ำ</a:t>
            </a:r>
          </a:p>
        </p:txBody>
      </p:sp>
      <p:sp>
        <p:nvSpPr>
          <p:cNvPr id="7" name="Rectangle 6"/>
          <p:cNvSpPr/>
          <p:nvPr/>
        </p:nvSpPr>
        <p:spPr>
          <a:xfrm>
            <a:off x="4434840" y="2011680"/>
            <a:ext cx="3337560" cy="41148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F172A"/>
                </a:solidFill>
              </a:defRPr>
            </a:pPr>
            <a:r>
              <a:t>2. Reactive &amp; Deterministic Rules</a:t>
            </a:r>
          </a:p>
          <a:p>
            <a:pPr>
              <a:defRPr sz="1200">
                <a:solidFill>
                  <a:srgbClr val="0F172A"/>
                </a:solidFill>
              </a:defRPr>
            </a:pPr>
            <a:r>
              <a:t>ระบบบอกได้แค่ว่า 'เกิดอะไรขึ้นแล้วในอดีต' และทำตามกฎตายตัว (Static Rules) ไม่สามารถคาดการณ์ความเสี่ยงซัพพลายเออร์ หรือความผันผวนของตลาดล่วงหน้าได้</a:t>
            </a:r>
          </a:p>
        </p:txBody>
      </p:sp>
      <p:sp>
        <p:nvSpPr>
          <p:cNvPr id="8" name="Rectangle 7"/>
          <p:cNvSpPr/>
          <p:nvPr/>
        </p:nvSpPr>
        <p:spPr>
          <a:xfrm>
            <a:off x="8138160" y="2011680"/>
            <a:ext cx="3337560" cy="41148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F172A"/>
                </a:solidFill>
              </a:defRPr>
            </a:pPr>
            <a:r>
              <a:t>3. High Cognitive Load &amp; Complexity</a:t>
            </a:r>
          </a:p>
          <a:p>
            <a:pPr>
              <a:defRPr sz="1200">
                <a:solidFill>
                  <a:srgbClr val="0F172A"/>
                </a:solidFill>
              </a:defRPr>
            </a:pPr>
            <a:r>
              <a:t>งานกระทบยอดภาษีไทย (หัก ณ ที่จ่าย ภ.ง.ด., e-Tax), 3-Way Matching ที่ไม่ตรงกัน และการแกะข้อผิดพลาด ยังต้องพึ่งพาผู้เชี่ยวชาญนั่งตรวจสอบทีละบรรทัด</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none">
            <a:spAutoFit/>
          </a:bodyPr>
          <a:lstStyle/>
          <a:p>
            <a:pPr>
              <a:defRPr sz="1100" b="1">
                <a:solidFill>
                  <a:srgbClr val="E60012"/>
                </a:solidFill>
              </a:defRPr>
            </a:pPr>
            <a:r>
              <a:t>D365 &amp; COPILOT AI MODERNIZATION  //  SLIDE 3 OF 10</a:t>
            </a:r>
          </a:p>
        </p:txBody>
      </p:sp>
      <p:sp>
        <p:nvSpPr>
          <p:cNvPr id="4" name="TextBox 3"/>
          <p:cNvSpPr txBox="1"/>
          <p:nvPr/>
        </p:nvSpPr>
        <p:spPr>
          <a:xfrm>
            <a:off x="731520" y="685800"/>
            <a:ext cx="10515600" cy="731520"/>
          </a:xfrm>
          <a:prstGeom prst="rect">
            <a:avLst/>
          </a:prstGeom>
          <a:noFill/>
        </p:spPr>
        <p:txBody>
          <a:bodyPr wrap="square">
            <a:spAutoFit/>
          </a:bodyPr>
          <a:lstStyle/>
          <a:p>
            <a:pPr>
              <a:defRPr b="1" sz="2800">
                <a:solidFill>
                  <a:srgbClr val="0F172A"/>
                </a:solidFill>
              </a:defRPr>
            </a:pPr>
            <a:r>
              <a:t>Strategic Blueprint: The Copilot AI Augmentation Layer</a:t>
            </a:r>
          </a:p>
        </p:txBody>
      </p:sp>
      <p:sp>
        <p:nvSpPr>
          <p:cNvPr id="5" name="TextBox 4"/>
          <p:cNvSpPr txBox="1"/>
          <p:nvPr/>
        </p:nvSpPr>
        <p:spPr>
          <a:xfrm>
            <a:off x="731520" y="1371600"/>
            <a:ext cx="10515600" cy="457200"/>
          </a:xfrm>
          <a:prstGeom prst="rect">
            <a:avLst/>
          </a:prstGeom>
          <a:noFill/>
        </p:spPr>
        <p:txBody>
          <a:bodyPr wrap="square">
            <a:spAutoFit/>
          </a:bodyPr>
          <a:lstStyle/>
          <a:p>
            <a:pPr>
              <a:defRPr sz="1500">
                <a:solidFill>
                  <a:srgbClr val="64748B"/>
                </a:solidFill>
              </a:defRPr>
            </a:pPr>
            <a:r>
              <a:t>สถาปัตยกรรมอัจฉริยะที่ผสานเข้ากับ D365 Dataverse ภายใต้ความปลอดภัยระดับสูงสุด</a:t>
            </a:r>
          </a:p>
        </p:txBody>
      </p:sp>
      <p:sp>
        <p:nvSpPr>
          <p:cNvPr id="6" name="Rectangle 5"/>
          <p:cNvSpPr/>
          <p:nvPr/>
        </p:nvSpPr>
        <p:spPr>
          <a:xfrm>
            <a:off x="731520" y="2011680"/>
            <a:ext cx="3337560" cy="41148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F172A"/>
                </a:solidFill>
              </a:defRPr>
            </a:pPr>
            <a:r>
              <a:t>Multi-Modal Cognitive Ingestion</a:t>
            </a:r>
          </a:p>
          <a:p>
            <a:pPr>
              <a:defRPr sz="1200">
                <a:solidFill>
                  <a:srgbClr val="0F172A"/>
                </a:solidFill>
              </a:defRPr>
            </a:pPr>
            <a:r>
              <a:t>Copilot ถอดรหัสเอกสารทุกรูปแบบ (PDF, รูปถ่าย, เอกสารภาษี) แปลงเป็นตรรกะทางธุรกิจอัตโนมัติ</a:t>
            </a:r>
          </a:p>
        </p:txBody>
      </p:sp>
      <p:sp>
        <p:nvSpPr>
          <p:cNvPr id="7" name="Rectangle 6"/>
          <p:cNvSpPr/>
          <p:nvPr/>
        </p:nvSpPr>
        <p:spPr>
          <a:xfrm>
            <a:off x="4434840" y="2011680"/>
            <a:ext cx="3337560" cy="41148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F172A"/>
                </a:solidFill>
              </a:defRPr>
            </a:pPr>
            <a:r>
              <a:t>Enterprise Isolated Tenant Security</a:t>
            </a:r>
          </a:p>
          <a:p>
            <a:pPr>
              <a:defRPr sz="1200">
                <a:solidFill>
                  <a:srgbClr val="0F172A"/>
                </a:solidFill>
              </a:defRPr>
            </a:pPr>
            <a:r>
              <a:t>ข้อมูลองค์กร 100% อยู่ใน Tenant ส่วนตัว ข้อมูลไม่ถูกนำไปเทรนโมเดลสาธารณะ พร้อมการเข้ารหัส AES-256</a:t>
            </a:r>
          </a:p>
        </p:txBody>
      </p:sp>
      <p:sp>
        <p:nvSpPr>
          <p:cNvPr id="8" name="Rectangle 7"/>
          <p:cNvSpPr/>
          <p:nvPr/>
        </p:nvSpPr>
        <p:spPr>
          <a:xfrm>
            <a:off x="8138160" y="2011680"/>
            <a:ext cx="3337560" cy="41148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F172A"/>
                </a:solidFill>
              </a:defRPr>
            </a:pPr>
            <a:r>
              <a:t>Human-in-the-Loop Governance</a:t>
            </a:r>
          </a:p>
          <a:p>
            <a:pPr>
              <a:defRPr sz="1200">
                <a:solidFill>
                  <a:srgbClr val="0F172A"/>
                </a:solidFill>
              </a:defRPr>
            </a:pPr>
            <a:r>
              <a:t>AI เสนอแนวทางและร่างเอกสาร แต่การอนุมัติขั้นสุดท้าย (Sign-off) ยังคงอยู่ในการควบคุมของผู้บริหาร 100%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none">
            <a:spAutoFit/>
          </a:bodyPr>
          <a:lstStyle/>
          <a:p>
            <a:pPr>
              <a:defRPr sz="1100" b="1">
                <a:solidFill>
                  <a:srgbClr val="E60012"/>
                </a:solidFill>
              </a:defRPr>
            </a:pPr>
            <a:r>
              <a:t>D365 &amp; COPILOT AI MODERNIZATION  //  SLIDE 4 OF 10</a:t>
            </a:r>
          </a:p>
        </p:txBody>
      </p:sp>
      <p:sp>
        <p:nvSpPr>
          <p:cNvPr id="4" name="TextBox 3"/>
          <p:cNvSpPr txBox="1"/>
          <p:nvPr/>
        </p:nvSpPr>
        <p:spPr>
          <a:xfrm>
            <a:off x="731520" y="685800"/>
            <a:ext cx="10515600" cy="731520"/>
          </a:xfrm>
          <a:prstGeom prst="rect">
            <a:avLst/>
          </a:prstGeom>
          <a:noFill/>
        </p:spPr>
        <p:txBody>
          <a:bodyPr wrap="square">
            <a:spAutoFit/>
          </a:bodyPr>
          <a:lstStyle/>
          <a:p>
            <a:pPr>
              <a:defRPr b="1" sz="2800">
                <a:solidFill>
                  <a:srgbClr val="0F172A"/>
                </a:solidFill>
              </a:defRPr>
            </a:pPr>
            <a:r>
              <a:t>Module 1: Finance &amp; Thai Tax Modernization</a:t>
            </a:r>
          </a:p>
        </p:txBody>
      </p:sp>
      <p:sp>
        <p:nvSpPr>
          <p:cNvPr id="5" name="TextBox 4"/>
          <p:cNvSpPr txBox="1"/>
          <p:nvPr/>
        </p:nvSpPr>
        <p:spPr>
          <a:xfrm>
            <a:off x="731520" y="1371600"/>
            <a:ext cx="10515600" cy="457200"/>
          </a:xfrm>
          <a:prstGeom prst="rect">
            <a:avLst/>
          </a:prstGeom>
          <a:noFill/>
        </p:spPr>
        <p:txBody>
          <a:bodyPr wrap="square">
            <a:spAutoFit/>
          </a:bodyPr>
          <a:lstStyle/>
          <a:p>
            <a:pPr>
              <a:defRPr sz="1500">
                <a:solidFill>
                  <a:srgbClr val="64748B"/>
                </a:solidFill>
              </a:defRPr>
            </a:pPr>
            <a:r>
              <a:t>แก้ Pain Point งานบัญชีและการกระทบยอดภาษีไทยที่ Standard D365 ทำไม่ได้</a:t>
            </a:r>
          </a:p>
        </p:txBody>
      </p:sp>
      <p:sp>
        <p:nvSpPr>
          <p:cNvPr id="6" name="Rectangle 5"/>
          <p:cNvSpPr/>
          <p:nvPr/>
        </p:nvSpPr>
        <p:spPr>
          <a:xfrm>
            <a:off x="731520" y="2011680"/>
            <a:ext cx="3337560" cy="41148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E60012"/>
                </a:solidFill>
              </a:defRPr>
            </a:pPr>
            <a:r>
              <a:t>Pain ใน Standard D365</a:t>
            </a:r>
          </a:p>
          <a:p>
            <a:pPr>
              <a:defRPr sz="1200">
                <a:solidFill>
                  <a:srgbClr val="0F172A"/>
                </a:solidFill>
              </a:defRPr>
            </a:pPr>
            <a:r>
              <a:t>• ใบแจ้งหนี้ไม่ตรง PO (เช่น มีค่าธรรมเนียมแฝง, ส่วนลดพิเศษ) ทำให้ระบบ 3-Way Matching ค้าง</a:t>
            </a:r>
            <a:br/>
            <a:r>
              <a:t>• การกระทบยอด ภ.ง.ด. 3, 53 และ e-Tax Invoice XML ต้องใช้คนตรวจคู่มือภาษี</a:t>
            </a:r>
          </a:p>
        </p:txBody>
      </p:sp>
      <p:sp>
        <p:nvSpPr>
          <p:cNvPr id="7" name="Rectangle 6"/>
          <p:cNvSpPr/>
          <p:nvPr/>
        </p:nvSpPr>
        <p:spPr>
          <a:xfrm>
            <a:off x="4434840" y="2011680"/>
            <a:ext cx="3337560" cy="41148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78D4"/>
                </a:solidFill>
              </a:defRPr>
            </a:pPr>
            <a:r>
              <a:t>Use Case 1: Autonomous 3-Way Audit</a:t>
            </a:r>
          </a:p>
          <a:p>
            <a:pPr>
              <a:defRPr sz="1200">
                <a:solidFill>
                  <a:srgbClr val="0F172A"/>
                </a:solidFill>
              </a:defRPr>
            </a:pPr>
            <a:r>
              <a:t>Copilot อ่านเอกสารเทียบกับ PO และ GRN หากพบส่วนต่าง ระบบจะอธิบายเหตุผลเป็นภาษาไทย และร่าง Adjustment Voucher ให้อัตโนมัติ</a:t>
            </a:r>
          </a:p>
        </p:txBody>
      </p:sp>
      <p:sp>
        <p:nvSpPr>
          <p:cNvPr id="8" name="Rectangle 7"/>
          <p:cNvSpPr/>
          <p:nvPr/>
        </p:nvSpPr>
        <p:spPr>
          <a:xfrm>
            <a:off x="8138160" y="2011680"/>
            <a:ext cx="3337560" cy="41148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78D4"/>
                </a:solidFill>
              </a:defRPr>
            </a:pPr>
            <a:r>
              <a:t>Use Case 2: Thai Tax Auto-Reconciliation</a:t>
            </a:r>
          </a:p>
          <a:p>
            <a:pPr>
              <a:defRPr sz="1200">
                <a:solidFill>
                  <a:srgbClr val="0F172A"/>
                </a:solidFill>
              </a:defRPr>
            </a:pPr>
            <a:r>
              <a:t>ตรวจสอบเลขอ้างอิงและลายมือชื่อดิจิทัลกับกรมสรรพากรอัตโนมัติ ลดเวลาปิดงวดบัญชีจาก 5 วันเหลือ 4 ชั่วโมง</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none">
            <a:spAutoFit/>
          </a:bodyPr>
          <a:lstStyle/>
          <a:p>
            <a:pPr>
              <a:defRPr sz="1100" b="1">
                <a:solidFill>
                  <a:srgbClr val="E60012"/>
                </a:solidFill>
              </a:defRPr>
            </a:pPr>
            <a:r>
              <a:t>D365 &amp; COPILOT AI MODERNIZATION  //  SLIDE 5 OF 10</a:t>
            </a:r>
          </a:p>
        </p:txBody>
      </p:sp>
      <p:sp>
        <p:nvSpPr>
          <p:cNvPr id="4" name="TextBox 3"/>
          <p:cNvSpPr txBox="1"/>
          <p:nvPr/>
        </p:nvSpPr>
        <p:spPr>
          <a:xfrm>
            <a:off x="731520" y="685800"/>
            <a:ext cx="10515600" cy="731520"/>
          </a:xfrm>
          <a:prstGeom prst="rect">
            <a:avLst/>
          </a:prstGeom>
          <a:noFill/>
        </p:spPr>
        <p:txBody>
          <a:bodyPr wrap="square">
            <a:spAutoFit/>
          </a:bodyPr>
          <a:lstStyle/>
          <a:p>
            <a:pPr>
              <a:defRPr b="1" sz="2800">
                <a:solidFill>
                  <a:srgbClr val="0F172A"/>
                </a:solidFill>
              </a:defRPr>
            </a:pPr>
            <a:r>
              <a:t>Module 2: Procurement &amp; Sourcing Intelligence</a:t>
            </a:r>
          </a:p>
        </p:txBody>
      </p:sp>
      <p:sp>
        <p:nvSpPr>
          <p:cNvPr id="5" name="TextBox 4"/>
          <p:cNvSpPr txBox="1"/>
          <p:nvPr/>
        </p:nvSpPr>
        <p:spPr>
          <a:xfrm>
            <a:off x="731520" y="1371600"/>
            <a:ext cx="10515600" cy="457200"/>
          </a:xfrm>
          <a:prstGeom prst="rect">
            <a:avLst/>
          </a:prstGeom>
          <a:noFill/>
        </p:spPr>
        <p:txBody>
          <a:bodyPr wrap="square">
            <a:spAutoFit/>
          </a:bodyPr>
          <a:lstStyle/>
          <a:p>
            <a:pPr>
              <a:defRPr sz="1500">
                <a:solidFill>
                  <a:srgbClr val="64748B"/>
                </a:solidFill>
              </a:defRPr>
            </a:pPr>
            <a:r>
              <a:t>จากงานจัดซื้อเชิงรับ สู่การคัดเลือกและเจรจาต่อรองคู่ค้าด้วยปัญญาประดิษฐ์</a:t>
            </a:r>
          </a:p>
        </p:txBody>
      </p:sp>
      <p:sp>
        <p:nvSpPr>
          <p:cNvPr id="6" name="Rectangle 5"/>
          <p:cNvSpPr/>
          <p:nvPr/>
        </p:nvSpPr>
        <p:spPr>
          <a:xfrm>
            <a:off x="731520" y="2011680"/>
            <a:ext cx="3337560" cy="41148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E60012"/>
                </a:solidFill>
              </a:defRPr>
            </a:pPr>
            <a:r>
              <a:t>Pain ใน Standard D365</a:t>
            </a:r>
          </a:p>
          <a:p>
            <a:pPr>
              <a:defRPr sz="1200">
                <a:solidFill>
                  <a:srgbClr val="0F172A"/>
                </a:solidFill>
              </a:defRPr>
            </a:pPr>
            <a:r>
              <a:t>• การประเมินคู่ค้าดูได้แค่วันที่ส่งของในอดีต (Lagging KPI) ไม่รู้สถานะการเงินจริงหรือความเสี่ยงภายนอก</a:t>
            </a:r>
            <a:br/>
            <a:r>
              <a:t>• การตรวจสัญญาและ RFQ เปรียบเทียบราคาหลายเจ้าทำได้ช้า</a:t>
            </a:r>
          </a:p>
        </p:txBody>
      </p:sp>
      <p:sp>
        <p:nvSpPr>
          <p:cNvPr id="7" name="Rectangle 6"/>
          <p:cNvSpPr/>
          <p:nvPr/>
        </p:nvSpPr>
        <p:spPr>
          <a:xfrm>
            <a:off x="4434840" y="2011680"/>
            <a:ext cx="3337560" cy="41148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78D4"/>
                </a:solidFill>
              </a:defRPr>
            </a:pPr>
            <a:r>
              <a:t>Use Case 1: Predictive AI Vendor Selection</a:t>
            </a:r>
          </a:p>
          <a:p>
            <a:pPr>
              <a:defRPr sz="1200">
                <a:solidFill>
                  <a:srgbClr val="0F172A"/>
                </a:solidFill>
              </a:defRPr>
            </a:pPr>
            <a:r>
              <a:t>วิเคราะห์ประวัติคุณภาพใน D365 ร่วมกับแนวโน้มราคาสินค้าโภคภัณฑ์โลกและข่าวความเสี่ยง แนะนำสัดส่วนการสั่งซื้อที่คุ้มค่าที่สุด</a:t>
            </a:r>
          </a:p>
        </p:txBody>
      </p:sp>
      <p:sp>
        <p:nvSpPr>
          <p:cNvPr id="8" name="Rectangle 7"/>
          <p:cNvSpPr/>
          <p:nvPr/>
        </p:nvSpPr>
        <p:spPr>
          <a:xfrm>
            <a:off x="8138160" y="2011680"/>
            <a:ext cx="3337560" cy="41148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78D4"/>
                </a:solidFill>
              </a:defRPr>
            </a:pPr>
            <a:r>
              <a:t>Use Case 2: Contract Risk &amp; Negotiation Copilot</a:t>
            </a:r>
          </a:p>
          <a:p>
            <a:pPr>
              <a:defRPr sz="1200">
                <a:solidFill>
                  <a:srgbClr val="0F172A"/>
                </a:solidFill>
              </a:defRPr>
            </a:pPr>
            <a:r>
              <a:t>สแกนข้อสัญญาที่อาจเสียเปรียบ สรุปข้อเบี่ยงเบน และร่างแนวทางเจรจาต่อรองราคาช่วยทีมจัดซื้อ</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none">
            <a:spAutoFit/>
          </a:bodyPr>
          <a:lstStyle/>
          <a:p>
            <a:pPr>
              <a:defRPr sz="1100" b="1">
                <a:solidFill>
                  <a:srgbClr val="E60012"/>
                </a:solidFill>
              </a:defRPr>
            </a:pPr>
            <a:r>
              <a:t>D365 &amp; COPILOT AI MODERNIZATION  //  SLIDE 6 OF 10</a:t>
            </a:r>
          </a:p>
        </p:txBody>
      </p:sp>
      <p:sp>
        <p:nvSpPr>
          <p:cNvPr id="4" name="TextBox 3"/>
          <p:cNvSpPr txBox="1"/>
          <p:nvPr/>
        </p:nvSpPr>
        <p:spPr>
          <a:xfrm>
            <a:off x="731520" y="685800"/>
            <a:ext cx="10515600" cy="731520"/>
          </a:xfrm>
          <a:prstGeom prst="rect">
            <a:avLst/>
          </a:prstGeom>
          <a:noFill/>
        </p:spPr>
        <p:txBody>
          <a:bodyPr wrap="square">
            <a:spAutoFit/>
          </a:bodyPr>
          <a:lstStyle/>
          <a:p>
            <a:pPr>
              <a:defRPr b="1" sz="2800">
                <a:solidFill>
                  <a:srgbClr val="0F172A"/>
                </a:solidFill>
              </a:defRPr>
            </a:pPr>
            <a:r>
              <a:t>Module 3: Autonomous Supply Chain Resiliency</a:t>
            </a:r>
          </a:p>
        </p:txBody>
      </p:sp>
      <p:sp>
        <p:nvSpPr>
          <p:cNvPr id="5" name="TextBox 4"/>
          <p:cNvSpPr txBox="1"/>
          <p:nvPr/>
        </p:nvSpPr>
        <p:spPr>
          <a:xfrm>
            <a:off x="731520" y="1371600"/>
            <a:ext cx="10515600" cy="457200"/>
          </a:xfrm>
          <a:prstGeom prst="rect">
            <a:avLst/>
          </a:prstGeom>
          <a:noFill/>
        </p:spPr>
        <p:txBody>
          <a:bodyPr wrap="square">
            <a:spAutoFit/>
          </a:bodyPr>
          <a:lstStyle/>
          <a:p>
            <a:pPr>
              <a:defRPr sz="1500">
                <a:solidFill>
                  <a:srgbClr val="64748B"/>
                </a:solidFill>
              </a:defRPr>
            </a:pPr>
            <a:r>
              <a:t>พลิกโฉมการวางแผนคลังสินค้า รับมือวิกฤตโลจิสติกส์ได้ล่วงหน้า</a:t>
            </a:r>
          </a:p>
        </p:txBody>
      </p:sp>
      <p:sp>
        <p:nvSpPr>
          <p:cNvPr id="6" name="Rectangle 5"/>
          <p:cNvSpPr/>
          <p:nvPr/>
        </p:nvSpPr>
        <p:spPr>
          <a:xfrm>
            <a:off x="731520" y="2011680"/>
            <a:ext cx="3337560" cy="41148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E60012"/>
                </a:solidFill>
              </a:defRPr>
            </a:pPr>
            <a:r>
              <a:t>Pain ใน Standard D365</a:t>
            </a:r>
          </a:p>
          <a:p>
            <a:pPr>
              <a:defRPr sz="1200">
                <a:solidFill>
                  <a:srgbClr val="0F172A"/>
                </a:solidFill>
              </a:defRPr>
            </a:pPr>
            <a:r>
              <a:t>• Master Planning (MRP) คำนวณแบบคงที่ ไม่รู้ข้อมูลพายุ ท่าเรือปิด หรือตู้คอนเทนเนอร์ตกค้าง</a:t>
            </a:r>
            <a:br/>
            <a:r>
              <a:t>• คลังสินค้าต้องถือ Safety Stock สูงเพื่อกันของขาด ทำให้จมทุนมหาศาล</a:t>
            </a:r>
          </a:p>
        </p:txBody>
      </p:sp>
      <p:sp>
        <p:nvSpPr>
          <p:cNvPr id="7" name="Rectangle 6"/>
          <p:cNvSpPr/>
          <p:nvPr/>
        </p:nvSpPr>
        <p:spPr>
          <a:xfrm>
            <a:off x="4434840" y="2011680"/>
            <a:ext cx="3337560" cy="41148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78D4"/>
                </a:solidFill>
              </a:defRPr>
            </a:pPr>
            <a:r>
              <a:t>Use Case 1: Proactive Disruption Rerouting</a:t>
            </a:r>
          </a:p>
          <a:p>
            <a:pPr>
              <a:defRPr sz="1200">
                <a:solidFill>
                  <a:srgbClr val="0F172A"/>
                </a:solidFill>
              </a:defRPr>
            </a:pPr>
            <a:r>
              <a:t>ตรวจจับความล่าช้าของการขนส่งทั่วโลก และเสนอแผนสลับ PO หรือโอนย้ายสินค้าข้ามคลัง (Cross-docking) ล่วงหน้า 2 สัปดาห์</a:t>
            </a:r>
          </a:p>
        </p:txBody>
      </p:sp>
      <p:sp>
        <p:nvSpPr>
          <p:cNvPr id="8" name="Rectangle 7"/>
          <p:cNvSpPr/>
          <p:nvPr/>
        </p:nvSpPr>
        <p:spPr>
          <a:xfrm>
            <a:off x="8138160" y="2011680"/>
            <a:ext cx="3337560" cy="41148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78D4"/>
                </a:solidFill>
              </a:defRPr>
            </a:pPr>
            <a:r>
              <a:t>Use Case 2: Contextual Demand Sensing</a:t>
            </a:r>
          </a:p>
          <a:p>
            <a:pPr>
              <a:defRPr sz="1200">
                <a:solidFill>
                  <a:srgbClr val="0F172A"/>
                </a:solidFill>
              </a:defRPr>
            </a:pPr>
            <a:r>
              <a:t>พยากรณ์ความต้องการสินค้าแม่นยำขึ้น ลดต้นทุนการถือครองสินค้า (Carrying Cost) ลงได้ถึง 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none">
            <a:spAutoFit/>
          </a:bodyPr>
          <a:lstStyle/>
          <a:p>
            <a:pPr>
              <a:defRPr sz="1100" b="1">
                <a:solidFill>
                  <a:srgbClr val="E60012"/>
                </a:solidFill>
              </a:defRPr>
            </a:pPr>
            <a:r>
              <a:t>D365 &amp; COPILOT AI MODERNIZATION  //  SLIDE 7 OF 10</a:t>
            </a:r>
          </a:p>
        </p:txBody>
      </p:sp>
      <p:sp>
        <p:nvSpPr>
          <p:cNvPr id="4" name="TextBox 3"/>
          <p:cNvSpPr txBox="1"/>
          <p:nvPr/>
        </p:nvSpPr>
        <p:spPr>
          <a:xfrm>
            <a:off x="731520" y="685800"/>
            <a:ext cx="10515600" cy="731520"/>
          </a:xfrm>
          <a:prstGeom prst="rect">
            <a:avLst/>
          </a:prstGeom>
          <a:noFill/>
        </p:spPr>
        <p:txBody>
          <a:bodyPr wrap="square">
            <a:spAutoFit/>
          </a:bodyPr>
          <a:lstStyle/>
          <a:p>
            <a:pPr>
              <a:defRPr b="1" sz="2800">
                <a:solidFill>
                  <a:srgbClr val="0F172A"/>
                </a:solidFill>
              </a:defRPr>
            </a:pPr>
            <a:r>
              <a:t>Module 4: Smart Manufacturing &amp; Shopfloor AI</a:t>
            </a:r>
          </a:p>
        </p:txBody>
      </p:sp>
      <p:sp>
        <p:nvSpPr>
          <p:cNvPr id="5" name="TextBox 4"/>
          <p:cNvSpPr txBox="1"/>
          <p:nvPr/>
        </p:nvSpPr>
        <p:spPr>
          <a:xfrm>
            <a:off x="731520" y="1371600"/>
            <a:ext cx="10515600" cy="457200"/>
          </a:xfrm>
          <a:prstGeom prst="rect">
            <a:avLst/>
          </a:prstGeom>
          <a:noFill/>
        </p:spPr>
        <p:txBody>
          <a:bodyPr wrap="square">
            <a:spAutoFit/>
          </a:bodyPr>
          <a:lstStyle/>
          <a:p>
            <a:pPr>
              <a:defRPr sz="1500">
                <a:solidFill>
                  <a:srgbClr val="64748B"/>
                </a:solidFill>
              </a:defRPr>
            </a:pPr>
            <a:r>
              <a:t>ยกระดับสายการผลิตด้วยการเชื่อมโยงข้อมูลหน้างานและการวินิจฉัยของเสียแบบเรียลไทม์</a:t>
            </a:r>
          </a:p>
        </p:txBody>
      </p:sp>
      <p:sp>
        <p:nvSpPr>
          <p:cNvPr id="6" name="Rectangle 5"/>
          <p:cNvSpPr/>
          <p:nvPr/>
        </p:nvSpPr>
        <p:spPr>
          <a:xfrm>
            <a:off x="731520" y="2011680"/>
            <a:ext cx="3337560" cy="41148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E60012"/>
                </a:solidFill>
              </a:defRPr>
            </a:pPr>
            <a:r>
              <a:t>Pain ใน Standard D365</a:t>
            </a:r>
          </a:p>
          <a:p>
            <a:pPr>
              <a:defRPr sz="1200">
                <a:solidFill>
                  <a:srgbClr val="0F172A"/>
                </a:solidFill>
              </a:defRPr>
            </a:pPr>
            <a:r>
              <a:t>• ตารางการผลิตไม่ปรับเปลี่ยนอัตโนมัติเมื่อเครื่องจักรขัดข้อง หรือมีอัตราของเสีย (Scrap) พุ่งสูง</a:t>
            </a:r>
            <a:br/>
            <a:r>
              <a:t>• การหาสาเหตุของเสียต้องอาศัยวิศวกรไล่ดูบันทึกย้อนหลังหลายวัน</a:t>
            </a:r>
          </a:p>
        </p:txBody>
      </p:sp>
      <p:sp>
        <p:nvSpPr>
          <p:cNvPr id="7" name="Rectangle 6"/>
          <p:cNvSpPr/>
          <p:nvPr/>
        </p:nvSpPr>
        <p:spPr>
          <a:xfrm>
            <a:off x="4434840" y="2011680"/>
            <a:ext cx="3337560" cy="41148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78D4"/>
                </a:solidFill>
              </a:defRPr>
            </a:pPr>
            <a:r>
              <a:t>Use Case 1: Real-time Telemetry Dispatching</a:t>
            </a:r>
          </a:p>
          <a:p>
            <a:pPr>
              <a:defRPr sz="1200">
                <a:solidFill>
                  <a:srgbClr val="0F172A"/>
                </a:solidFill>
              </a:defRPr>
            </a:pPr>
            <a:r>
              <a:t>เมื่อเซนเซอร์แจ้งเตือนความร้อนหรือแรงสั่นสะเทือน ระบบจะจัดลำดับ Work Order ใหม่ไปยังเครื่องจักรสำรองทันที</a:t>
            </a:r>
          </a:p>
        </p:txBody>
      </p:sp>
      <p:sp>
        <p:nvSpPr>
          <p:cNvPr id="8" name="Rectangle 7"/>
          <p:cNvSpPr/>
          <p:nvPr/>
        </p:nvSpPr>
        <p:spPr>
          <a:xfrm>
            <a:off x="8138160" y="2011680"/>
            <a:ext cx="3337560" cy="41148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78D4"/>
                </a:solidFill>
              </a:defRPr>
            </a:pPr>
            <a:r>
              <a:t>Use Case 2: Automated Scrap Root-Cause Diagnostics</a:t>
            </a:r>
          </a:p>
          <a:p>
            <a:pPr>
              <a:defRPr sz="1200">
                <a:solidFill>
                  <a:srgbClr val="0F172A"/>
                </a:solidFill>
              </a:defRPr>
            </a:pPr>
            <a:r>
              <a:t>ประมวลผลข้อมูลล็อตวัตถุดิบ อุณหภูมิ และกะการทำงาน เพื่อสรุปสาเหตุของเสียให้หัวหน้างานใน 3 นาที</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none">
            <a:spAutoFit/>
          </a:bodyPr>
          <a:lstStyle/>
          <a:p>
            <a:pPr>
              <a:defRPr sz="1100" b="1">
                <a:solidFill>
                  <a:srgbClr val="E60012"/>
                </a:solidFill>
              </a:defRPr>
            </a:pPr>
            <a:r>
              <a:t>D365 &amp; COPILOT AI MODERNIZATION  //  SLIDE 8 OF 10</a:t>
            </a:r>
          </a:p>
        </p:txBody>
      </p:sp>
      <p:sp>
        <p:nvSpPr>
          <p:cNvPr id="4" name="TextBox 3"/>
          <p:cNvSpPr txBox="1"/>
          <p:nvPr/>
        </p:nvSpPr>
        <p:spPr>
          <a:xfrm>
            <a:off x="731520" y="685800"/>
            <a:ext cx="10515600" cy="731520"/>
          </a:xfrm>
          <a:prstGeom prst="rect">
            <a:avLst/>
          </a:prstGeom>
          <a:noFill/>
        </p:spPr>
        <p:txBody>
          <a:bodyPr wrap="square">
            <a:spAutoFit/>
          </a:bodyPr>
          <a:lstStyle/>
          <a:p>
            <a:pPr>
              <a:defRPr b="1" sz="2800">
                <a:solidFill>
                  <a:srgbClr val="0F172A"/>
                </a:solidFill>
              </a:defRPr>
            </a:pPr>
            <a:r>
              <a:t>Module 5: Project Operations &amp; Governance</a:t>
            </a:r>
          </a:p>
        </p:txBody>
      </p:sp>
      <p:sp>
        <p:nvSpPr>
          <p:cNvPr id="5" name="TextBox 4"/>
          <p:cNvSpPr txBox="1"/>
          <p:nvPr/>
        </p:nvSpPr>
        <p:spPr>
          <a:xfrm>
            <a:off x="731520" y="1371600"/>
            <a:ext cx="10515600" cy="457200"/>
          </a:xfrm>
          <a:prstGeom prst="rect">
            <a:avLst/>
          </a:prstGeom>
          <a:noFill/>
        </p:spPr>
        <p:txBody>
          <a:bodyPr wrap="square">
            <a:spAutoFit/>
          </a:bodyPr>
          <a:lstStyle/>
          <a:p>
            <a:pPr>
              <a:defRPr sz="1500">
                <a:solidFill>
                  <a:srgbClr val="64748B"/>
                </a:solidFill>
              </a:defRPr>
            </a:pPr>
            <a:r>
              <a:t>ควบคุมกำไรของโครงการแบบเรียลไทม์ ป้องกันต้นทุนบานปลายก่อนสายเกินไป</a:t>
            </a:r>
          </a:p>
        </p:txBody>
      </p:sp>
      <p:sp>
        <p:nvSpPr>
          <p:cNvPr id="6" name="Rectangle 5"/>
          <p:cNvSpPr/>
          <p:nvPr/>
        </p:nvSpPr>
        <p:spPr>
          <a:xfrm>
            <a:off x="731520" y="2011680"/>
            <a:ext cx="3337560" cy="41148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E60012"/>
                </a:solidFill>
              </a:defRPr>
            </a:pPr>
            <a:r>
              <a:t>Pain ใน Standard D365</a:t>
            </a:r>
          </a:p>
          <a:p>
            <a:pPr>
              <a:defRPr sz="1200">
                <a:solidFill>
                  <a:srgbClr val="0F172A"/>
                </a:solidFill>
              </a:defRPr>
            </a:pPr>
            <a:r>
              <a:t>• การจัดสรรบุคลากรดูแค่ปฏิทินว่าง ไม่รู้ทักษะเชิงลึกหรือภาระงานจริง</a:t>
            </a:r>
            <a:br/>
            <a:r>
              <a:t>• รับรู้ว่าโครงการขาดทุน (Margin Slippage) เมื่อปิดบัญชีสิ้นงวด ซึ่งสายเกินแก้</a:t>
            </a:r>
          </a:p>
        </p:txBody>
      </p:sp>
      <p:sp>
        <p:nvSpPr>
          <p:cNvPr id="7" name="Rectangle 6"/>
          <p:cNvSpPr/>
          <p:nvPr/>
        </p:nvSpPr>
        <p:spPr>
          <a:xfrm>
            <a:off x="4434840" y="2011680"/>
            <a:ext cx="3337560" cy="41148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78D4"/>
                </a:solidFill>
              </a:defRPr>
            </a:pPr>
            <a:r>
              <a:t>Use Case 1: Predictive Margin Bleed Early Warning</a:t>
            </a:r>
          </a:p>
          <a:p>
            <a:pPr>
              <a:defRPr sz="1200">
                <a:solidFill>
                  <a:srgbClr val="0F172A"/>
                </a:solidFill>
              </a:defRPr>
            </a:pPr>
            <a:r>
              <a:t>วิเคราะห์อัตราการเบิกจ่าย Timesheet เทียบกับผลงานจริง แจ้งเตือนความเสี่ยงงบบานปลายล่วงหน้า 4 สัปดาห์</a:t>
            </a:r>
          </a:p>
        </p:txBody>
      </p:sp>
      <p:sp>
        <p:nvSpPr>
          <p:cNvPr id="8" name="Rectangle 7"/>
          <p:cNvSpPr/>
          <p:nvPr/>
        </p:nvSpPr>
        <p:spPr>
          <a:xfrm>
            <a:off x="8138160" y="2011680"/>
            <a:ext cx="3337560" cy="41148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78D4"/>
                </a:solidFill>
              </a:defRPr>
            </a:pPr>
            <a:r>
              <a:t>Use Case 2: Automated SOW &amp; Change Order Synthesis</a:t>
            </a:r>
          </a:p>
          <a:p>
            <a:pPr>
              <a:defRPr sz="1200">
                <a:solidFill>
                  <a:srgbClr val="0F172A"/>
                </a:solidFill>
              </a:defRPr>
            </a:pPr>
            <a:r>
              <a:t>แปลงบทสนทนาและมติในที่ประชุมให้เป็นเอกสาร Change Request พร้อมประเมินผลกระทบต่อกำไร</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none">
            <a:spAutoFit/>
          </a:bodyPr>
          <a:lstStyle/>
          <a:p>
            <a:pPr>
              <a:defRPr sz="1100" b="1">
                <a:solidFill>
                  <a:srgbClr val="E60012"/>
                </a:solidFill>
              </a:defRPr>
            </a:pPr>
            <a:r>
              <a:t>D365 &amp; COPILOT AI MODERNIZATION  //  SLIDE 9 OF 10</a:t>
            </a:r>
          </a:p>
        </p:txBody>
      </p:sp>
      <p:sp>
        <p:nvSpPr>
          <p:cNvPr id="4" name="TextBox 3"/>
          <p:cNvSpPr txBox="1"/>
          <p:nvPr/>
        </p:nvSpPr>
        <p:spPr>
          <a:xfrm>
            <a:off x="731520" y="685800"/>
            <a:ext cx="10515600" cy="731520"/>
          </a:xfrm>
          <a:prstGeom prst="rect">
            <a:avLst/>
          </a:prstGeom>
          <a:noFill/>
        </p:spPr>
        <p:txBody>
          <a:bodyPr wrap="square">
            <a:spAutoFit/>
          </a:bodyPr>
          <a:lstStyle/>
          <a:p>
            <a:pPr>
              <a:defRPr b="1" sz="2800">
                <a:solidFill>
                  <a:srgbClr val="0F172A"/>
                </a:solidFill>
              </a:defRPr>
            </a:pPr>
            <a:r>
              <a:t>Business Case &amp; 90-Day Enterprise Roadmap</a:t>
            </a:r>
          </a:p>
        </p:txBody>
      </p:sp>
      <p:sp>
        <p:nvSpPr>
          <p:cNvPr id="5" name="TextBox 4"/>
          <p:cNvSpPr txBox="1"/>
          <p:nvPr/>
        </p:nvSpPr>
        <p:spPr>
          <a:xfrm>
            <a:off x="731520" y="1371600"/>
            <a:ext cx="10515600" cy="457200"/>
          </a:xfrm>
          <a:prstGeom prst="rect">
            <a:avLst/>
          </a:prstGeom>
          <a:noFill/>
        </p:spPr>
        <p:txBody>
          <a:bodyPr wrap="square">
            <a:spAutoFit/>
          </a:bodyPr>
          <a:lstStyle/>
          <a:p>
            <a:pPr>
              <a:defRPr sz="1500">
                <a:solidFill>
                  <a:srgbClr val="64748B"/>
                </a:solidFill>
              </a:defRPr>
            </a:pPr>
            <a:r>
              <a:t>ความคุ้มค่าที่วัดผลได้ และแผนงานทดสอบสู่การใช้งานจริงใน 3 เดือน</a:t>
            </a:r>
          </a:p>
        </p:txBody>
      </p:sp>
      <p:sp>
        <p:nvSpPr>
          <p:cNvPr id="6" name="Rectangle 5"/>
          <p:cNvSpPr/>
          <p:nvPr/>
        </p:nvSpPr>
        <p:spPr>
          <a:xfrm>
            <a:off x="731520" y="2011680"/>
            <a:ext cx="3337560" cy="41148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78D4"/>
                </a:solidFill>
              </a:defRPr>
            </a:pPr>
            <a:r>
              <a:t>Key Tangible ROI Metrics</a:t>
            </a:r>
          </a:p>
          <a:p>
            <a:pPr>
              <a:defRPr sz="1200">
                <a:solidFill>
                  <a:srgbClr val="0F172A"/>
                </a:solidFill>
              </a:defRPr>
            </a:pPr>
            <a:r>
              <a:t>• ลดเวลาปิดงวดบัญชีและภาษี 70% (จาก 5 วันเหลือ 4 ชม.)</a:t>
            </a:r>
            <a:br/>
            <a:r>
              <a:t>• ลดต้นทุนจัดซื้อ 15% จากการต่อรองด้วยข้อมูล AI</a:t>
            </a:r>
            <a:br/>
            <a:r>
              <a:t>• ลดต้นทุนสต็อกจม 25% ด้วย Predictive SCM</a:t>
            </a:r>
          </a:p>
        </p:txBody>
      </p:sp>
      <p:sp>
        <p:nvSpPr>
          <p:cNvPr id="7" name="Rectangle 6"/>
          <p:cNvSpPr/>
          <p:nvPr/>
        </p:nvSpPr>
        <p:spPr>
          <a:xfrm>
            <a:off x="4434840" y="2011680"/>
            <a:ext cx="3337560" cy="41148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F172A"/>
                </a:solidFill>
              </a:defRPr>
            </a:pPr>
            <a:r>
              <a:t>Phase 1: Proof of Value (Days 1-30)</a:t>
            </a:r>
          </a:p>
          <a:p>
            <a:pPr>
              <a:defRPr sz="1200">
                <a:solidFill>
                  <a:srgbClr val="0F172A"/>
                </a:solidFill>
              </a:defRPr>
            </a:pPr>
            <a:r>
              <a:t>โฟกัสที่ AP Matching &amp; Thai Tax Automation วัดผลความแม่นยำและประหยัดเวลา</a:t>
            </a:r>
          </a:p>
        </p:txBody>
      </p:sp>
      <p:sp>
        <p:nvSpPr>
          <p:cNvPr id="8" name="Rectangle 7"/>
          <p:cNvSpPr/>
          <p:nvPr/>
        </p:nvSpPr>
        <p:spPr>
          <a:xfrm>
            <a:off x="8138160" y="2011680"/>
            <a:ext cx="3337560" cy="411480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F172A"/>
                </a:solidFill>
              </a:defRPr>
            </a:pPr>
            <a:r>
              <a:t>Phase 2 &amp; 3: Scale (Days 31-90)</a:t>
            </a:r>
          </a:p>
          <a:p>
            <a:pPr>
              <a:defRPr sz="1200">
                <a:solidFill>
                  <a:srgbClr val="0F172A"/>
                </a:solidFill>
              </a:defRPr>
            </a:pPr>
            <a:r>
              <a:t>ขยายผลสู่ Procurement Intelligence และ Supply Chain พร้อมฝึกอบรมทีมงาน 100%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0" cy="365760"/>
          </a:xfrm>
          <a:prstGeom prst="rect">
            <a:avLst/>
          </a:prstGeom>
          <a:noFill/>
        </p:spPr>
        <p:txBody>
          <a:bodyPr wrap="none">
            <a:spAutoFit/>
          </a:bodyPr>
          <a:lstStyle/>
          <a:p>
            <a:pPr>
              <a:defRPr sz="1100" b="1">
                <a:solidFill>
                  <a:srgbClr val="E60012"/>
                </a:solidFill>
              </a:defRPr>
            </a:pPr>
            <a:r>
              <a:t>FUJITSU RED INFINITY  ✕  MICROSOFT COPILOT  //  SLIDE 10 OF 10</a:t>
            </a:r>
          </a:p>
        </p:txBody>
      </p:sp>
      <p:sp>
        <p:nvSpPr>
          <p:cNvPr id="4" name="TextBox 3"/>
          <p:cNvSpPr txBox="1"/>
          <p:nvPr/>
        </p:nvSpPr>
        <p:spPr>
          <a:xfrm>
            <a:off x="731520" y="685800"/>
            <a:ext cx="10515600" cy="731520"/>
          </a:xfrm>
          <a:prstGeom prst="rect">
            <a:avLst/>
          </a:prstGeom>
          <a:noFill/>
        </p:spPr>
        <p:txBody>
          <a:bodyPr wrap="square">
            <a:spAutoFit/>
          </a:bodyPr>
          <a:lstStyle/>
          <a:p>
            <a:pPr>
              <a:defRPr b="1" sz="2800">
                <a:solidFill>
                  <a:srgbClr val="0F172A"/>
                </a:solidFill>
              </a:defRPr>
            </a:pPr>
            <a:r>
              <a:t>Pioneering the Intelligent Enterprise Ecosystem</a:t>
            </a:r>
          </a:p>
        </p:txBody>
      </p:sp>
      <p:sp>
        <p:nvSpPr>
          <p:cNvPr id="5" name="TextBox 4"/>
          <p:cNvSpPr txBox="1"/>
          <p:nvPr/>
        </p:nvSpPr>
        <p:spPr>
          <a:xfrm>
            <a:off x="731520" y="1371600"/>
            <a:ext cx="10515600" cy="457200"/>
          </a:xfrm>
          <a:prstGeom prst="rect">
            <a:avLst/>
          </a:prstGeom>
          <a:noFill/>
        </p:spPr>
        <p:txBody>
          <a:bodyPr wrap="square">
            <a:spAutoFit/>
          </a:bodyPr>
          <a:lstStyle/>
          <a:p>
            <a:pPr>
              <a:defRPr sz="1500">
                <a:solidFill>
                  <a:srgbClr val="64748B"/>
                </a:solidFill>
              </a:defRPr>
            </a:pPr>
            <a:r>
              <a:t>Fujitsu Thailand × Microsoft Copilot: พันธมิตรที่จะขับเคลื่อนองค์กรสู่อนาคต</a:t>
            </a:r>
          </a:p>
        </p:txBody>
      </p:sp>
      <p:pic>
        <p:nvPicPr>
          <p:cNvPr id="6" name="Picture 5" descr="slide10_fujitsu_red_infinity_motion.gif"/>
          <p:cNvPicPr>
            <a:picLocks noChangeAspect="1"/>
          </p:cNvPicPr>
          <p:nvPr/>
        </p:nvPicPr>
        <p:blipFill>
          <a:blip r:embed="rId2"/>
          <a:stretch>
            <a:fillRect/>
          </a:stretch>
        </p:blipFill>
        <p:spPr>
          <a:xfrm>
            <a:off x="731520" y="1920240"/>
            <a:ext cx="6583680" cy="3670402"/>
          </a:xfrm>
          <a:prstGeom prst="rect">
            <a:avLst/>
          </a:prstGeom>
        </p:spPr>
      </p:pic>
      <p:sp>
        <p:nvSpPr>
          <p:cNvPr id="7" name="Rectangle 6"/>
          <p:cNvSpPr/>
          <p:nvPr/>
        </p:nvSpPr>
        <p:spPr>
          <a:xfrm>
            <a:off x="7589520" y="1920240"/>
            <a:ext cx="3931920" cy="1280160"/>
          </a:xfrm>
          <a:prstGeom prst="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E60012"/>
                </a:solidFill>
              </a:defRPr>
            </a:pPr>
            <a:r>
              <a:t>The Infinite Synergy</a:t>
            </a:r>
          </a:p>
          <a:p>
            <a:pPr>
              <a:defRPr sz="1100">
                <a:solidFill>
                  <a:srgbClr val="0F172A"/>
                </a:solidFill>
              </a:defRPr>
            </a:pPr>
            <a:r>
              <a:t>การผสานรวมระหว่างความเชี่ยวชาญระดับองค์กรของ Fujitsu Red Infinity เข้ากับขุมพลังปัญญาประดิษฐ์ Microsoft Copilot</a:t>
            </a:r>
          </a:p>
        </p:txBody>
      </p:sp>
      <p:sp>
        <p:nvSpPr>
          <p:cNvPr id="8" name="Rectangle 7"/>
          <p:cNvSpPr/>
          <p:nvPr/>
        </p:nvSpPr>
        <p:spPr>
          <a:xfrm>
            <a:off x="7589520" y="3383280"/>
            <a:ext cx="3931920" cy="1280160"/>
          </a:xfrm>
          <a:prstGeom prst="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0078D4"/>
                </a:solidFill>
              </a:defRPr>
            </a:pPr>
            <a:r>
              <a:t>Tailored for Thailand Enterprise</a:t>
            </a:r>
          </a:p>
          <a:p>
            <a:pPr>
              <a:defRPr sz="1100">
                <a:solidFill>
                  <a:srgbClr val="0F172A"/>
                </a:solidFill>
              </a:defRPr>
            </a:pPr>
            <a:r>
              <a:t>เข้าใจระบบภาษี ระเบียบปฏิบัติ และวัฒนธรรมการทำงานขององค์กรไทยอย่างแท้จริง</a:t>
            </a:r>
          </a:p>
        </p:txBody>
      </p:sp>
      <p:sp>
        <p:nvSpPr>
          <p:cNvPr id="9" name="Rectangle 8"/>
          <p:cNvSpPr/>
          <p:nvPr/>
        </p:nvSpPr>
        <p:spPr>
          <a:xfrm>
            <a:off x="7589520" y="4846320"/>
            <a:ext cx="3931920" cy="1280160"/>
          </a:xfrm>
          <a:prstGeom prst="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0078D4"/>
                </a:solidFill>
              </a:defRPr>
            </a:pPr>
            <a:r>
              <a:t>Next Steps for Executive Action</a:t>
            </a:r>
          </a:p>
          <a:p>
            <a:pPr>
              <a:defRPr sz="1100">
                <a:solidFill>
                  <a:srgbClr val="0F172A"/>
                </a:solidFill>
              </a:defRPr>
            </a:pPr>
            <a:r>
              <a:t>อนุมัติเปิดโครงการ 30-Day Executive POC เพื่อสัมผัสผลลัพธ์จริงบนข้อมูลจำลองขององค์กร</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